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Bricolage Grotesque" panose="020B0604020202020204" charset="0"/>
      <p:regular r:id="rId15"/>
    </p:embeddedFont>
    <p:embeddedFont>
      <p:font typeface="Bricolage Grotesque Bold" panose="020B0604020202020204" charset="0"/>
      <p:regular r:id="rId16"/>
    </p:embeddedFont>
    <p:embeddedFont>
      <p:font typeface="Canva Sans Bold" panose="020B0604020202020204" charset="0"/>
      <p:regular r:id="rId17"/>
    </p:embeddedFont>
    <p:embeddedFont>
      <p:font typeface="Poppins" panose="00000500000000000000" pitchFamily="2" charset="0"/>
      <p:regular r:id="rId18"/>
      <p:bold r:id="rId19"/>
    </p:embeddedFont>
    <p:embeddedFont>
      <p:font typeface="Poppins Bold" panose="00000800000000000000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899876-A6AC-46A8-B618-F66F2B94BA05}" type="datetimeFigureOut">
              <a:rPr lang="en-ID" smtClean="0"/>
              <a:t>14/06/2026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599BF5-828F-436B-9CFD-19A2E471D36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1495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599BF5-828F-436B-9CFD-19A2E471D364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49155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media" Target="../media/media2.mp4"/><Relationship Id="rId7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5" Type="http://schemas.microsoft.com/office/2007/relationships/media" Target="../media/media3.mp4"/><Relationship Id="rId10" Type="http://schemas.openxmlformats.org/officeDocument/2006/relationships/image" Target="../media/image9.png"/><Relationship Id="rId4" Type="http://schemas.openxmlformats.org/officeDocument/2006/relationships/video" Target="../media/media2.mp4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2415882" cy="10287000"/>
            <a:chOff x="0" y="0"/>
            <a:chExt cx="636282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6282" cy="2709333"/>
            </a:xfrm>
            <a:custGeom>
              <a:avLst/>
              <a:gdLst/>
              <a:ahLst/>
              <a:cxnLst/>
              <a:rect l="l" t="t" r="r" b="b"/>
              <a:pathLst>
                <a:path w="636282" h="2709333">
                  <a:moveTo>
                    <a:pt x="0" y="0"/>
                  </a:moveTo>
                  <a:lnTo>
                    <a:pt x="636282" y="0"/>
                  </a:lnTo>
                  <a:lnTo>
                    <a:pt x="63628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636282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7949439" y="-608319"/>
            <a:ext cx="11658142" cy="11775901"/>
          </a:xfrm>
          <a:custGeom>
            <a:avLst/>
            <a:gdLst/>
            <a:ahLst/>
            <a:cxnLst/>
            <a:rect l="l" t="t" r="r" b="b"/>
            <a:pathLst>
              <a:path w="11658142" h="11775901">
                <a:moveTo>
                  <a:pt x="0" y="0"/>
                </a:moveTo>
                <a:lnTo>
                  <a:pt x="11658143" y="0"/>
                </a:lnTo>
                <a:lnTo>
                  <a:pt x="11658143" y="11775901"/>
                </a:lnTo>
                <a:lnTo>
                  <a:pt x="0" y="117759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39956" y="1028700"/>
            <a:ext cx="735971" cy="710546"/>
          </a:xfrm>
          <a:custGeom>
            <a:avLst/>
            <a:gdLst/>
            <a:ahLst/>
            <a:cxnLst/>
            <a:rect l="l" t="t" r="r" b="b"/>
            <a:pathLst>
              <a:path w="735971" h="710546">
                <a:moveTo>
                  <a:pt x="0" y="0"/>
                </a:moveTo>
                <a:lnTo>
                  <a:pt x="735970" y="0"/>
                </a:lnTo>
                <a:lnTo>
                  <a:pt x="735970" y="710546"/>
                </a:lnTo>
                <a:lnTo>
                  <a:pt x="0" y="7105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3320099" y="955532"/>
            <a:ext cx="11658142" cy="3219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279"/>
              </a:lnSpc>
            </a:pPr>
            <a:r>
              <a:rPr lang="en-US" sz="8448" spc="-540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Smart Conveyor </a:t>
            </a:r>
          </a:p>
          <a:p>
            <a:pPr marL="0" lvl="0" indent="0" algn="l">
              <a:lnSpc>
                <a:spcPts val="8279"/>
              </a:lnSpc>
            </a:pPr>
            <a:r>
              <a:rPr lang="en-US" sz="8448" spc="-540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Barcode Scanner </a:t>
            </a:r>
          </a:p>
          <a:p>
            <a:pPr marL="0" lvl="0" indent="0" algn="l">
              <a:lnSpc>
                <a:spcPts val="8279"/>
              </a:lnSpc>
            </a:pPr>
            <a:r>
              <a:rPr lang="en-US" sz="8448" spc="-540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System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20099" y="4783656"/>
            <a:ext cx="7043101" cy="3096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2967"/>
              </a:lnSpc>
            </a:pP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Sistem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scan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resi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logistik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saat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paket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berjalan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di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atas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konveyor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menggunakan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teknologi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Computer Vision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YOLOv8 dan </a:t>
            </a:r>
            <a:r>
              <a:rPr lang="en-US" sz="32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PyZbar</a:t>
            </a:r>
            <a:r>
              <a:rPr lang="en-US" sz="32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lang="en-US" sz="3200" spc="-6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67"/>
              </a:lnSpc>
            </a:pPr>
            <a:endParaRPr lang="en-US" sz="3200" spc="-6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67"/>
              </a:lnSpc>
            </a:pPr>
            <a:endParaRPr lang="en-US" sz="3200" b="1" spc="-6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967"/>
              </a:lnSpc>
            </a:pPr>
            <a:r>
              <a:rPr lang="en-US" sz="3200" b="1" spc="-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Akbar As </a:t>
            </a:r>
            <a:r>
              <a:rPr lang="en-US" sz="3200" b="1" spc="-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Syidiqi</a:t>
            </a:r>
            <a:endParaRPr lang="en-US" sz="3200" b="1" spc="-6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350972" y="1968832"/>
            <a:ext cx="1704171" cy="267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32"/>
              </a:lnSpc>
            </a:pPr>
            <a:r>
              <a:rPr lang="en-US" sz="180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60740" y="2310991"/>
            <a:ext cx="1704171" cy="342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19"/>
              </a:lnSpc>
            </a:pPr>
            <a:r>
              <a:rPr lang="en-US" sz="226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60740" y="8287049"/>
            <a:ext cx="1713939" cy="1195501"/>
            <a:chOff x="0" y="0"/>
            <a:chExt cx="2285252" cy="1594001"/>
          </a:xfrm>
        </p:grpSpPr>
        <p:sp>
          <p:nvSpPr>
            <p:cNvPr id="23" name="TextBox 23"/>
            <p:cNvSpPr txBox="1"/>
            <p:nvPr/>
          </p:nvSpPr>
          <p:spPr>
            <a:xfrm>
              <a:off x="0" y="0"/>
              <a:ext cx="2272228" cy="3300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932"/>
                </a:lnSpc>
              </a:pPr>
              <a:r>
                <a:rPr lang="en-US" sz="1805" b="1" dirty="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2026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024" y="357252"/>
              <a:ext cx="2272228" cy="12367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419"/>
                </a:lnSpc>
              </a:pPr>
              <a:r>
                <a:rPr lang="en-US" sz="2261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AI Engineering Batch 11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65673" y="1535380"/>
            <a:ext cx="47625" cy="2040668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0"/>
            <a:ext cx="6352295" cy="10287000"/>
            <a:chOff x="0" y="0"/>
            <a:chExt cx="984137" cy="15937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84137" cy="1593725"/>
            </a:xfrm>
            <a:custGeom>
              <a:avLst/>
              <a:gdLst/>
              <a:ahLst/>
              <a:cxnLst/>
              <a:rect l="l" t="t" r="r" b="b"/>
              <a:pathLst>
                <a:path w="984137" h="1593725">
                  <a:moveTo>
                    <a:pt x="0" y="0"/>
                  </a:moveTo>
                  <a:lnTo>
                    <a:pt x="984137" y="0"/>
                  </a:lnTo>
                  <a:lnTo>
                    <a:pt x="984137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4554" r="-455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438046" y="117435"/>
            <a:ext cx="1849954" cy="1730731"/>
            <a:chOff x="0" y="0"/>
            <a:chExt cx="2466605" cy="2307642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466605" cy="2307642"/>
              <a:chOff x="0" y="0"/>
              <a:chExt cx="787566" cy="73681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3681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3681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36810"/>
                    </a:lnTo>
                    <a:lnTo>
                      <a:pt x="0" y="73681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77491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19164" y="684524"/>
              <a:ext cx="1828278" cy="10528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647"/>
                </a:lnSpc>
              </a:pPr>
              <a:r>
                <a:rPr lang="en-US" sz="5763" spc="-368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 flipH="1">
            <a:off x="654279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5177017" y="5870652"/>
            <a:ext cx="2350556" cy="457290"/>
          </a:xfrm>
          <a:custGeom>
            <a:avLst/>
            <a:gdLst/>
            <a:ahLst/>
            <a:cxnLst/>
            <a:rect l="l" t="t" r="r" b="b"/>
            <a:pathLst>
              <a:path w="2350556" h="457290">
                <a:moveTo>
                  <a:pt x="0" y="0"/>
                </a:moveTo>
                <a:lnTo>
                  <a:pt x="2350556" y="0"/>
                </a:lnTo>
                <a:lnTo>
                  <a:pt x="2350556" y="457290"/>
                </a:lnTo>
                <a:lnTo>
                  <a:pt x="0" y="4572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793739" y="1415735"/>
            <a:ext cx="5780387" cy="2489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96"/>
              </a:lnSpc>
            </a:pPr>
            <a:r>
              <a:rPr lang="en-US" sz="9792" spc="-626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The Objective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65164" y="4686300"/>
            <a:ext cx="9063137" cy="2684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 algn="just">
              <a:lnSpc>
                <a:spcPts val="2601"/>
              </a:lnSpc>
              <a:buFont typeface="Arial" panose="020B0604020202020204" pitchFamily="34" charset="0"/>
              <a:buChar char="•"/>
            </a:pP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Otomatisasi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Scanning Resi Logistik di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Konveyor</a:t>
            </a:r>
            <a:endParaRPr lang="en-US" sz="2800" spc="-5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just">
              <a:lnSpc>
                <a:spcPts val="2601"/>
              </a:lnSpc>
              <a:buFont typeface="Arial" panose="020B0604020202020204" pitchFamily="34" charset="0"/>
              <a:buChar char="•"/>
            </a:pPr>
            <a:endParaRPr lang="en-US" sz="2800" spc="-5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just">
              <a:lnSpc>
                <a:spcPts val="2601"/>
              </a:lnSpc>
              <a:buFont typeface="Arial" panose="020B0604020202020204" pitchFamily="34" charset="0"/>
              <a:buChar char="•"/>
            </a:pP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Meningkatkan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jumlah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resi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yang di scan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dalam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waktu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tertentu</a:t>
            </a:r>
            <a:endParaRPr lang="en-US" sz="2800" spc="-5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just">
              <a:lnSpc>
                <a:spcPts val="2601"/>
              </a:lnSpc>
              <a:buFont typeface="Arial" panose="020B0604020202020204" pitchFamily="34" charset="0"/>
              <a:buChar char="•"/>
            </a:pPr>
            <a:endParaRPr lang="en-US" sz="2800" spc="-5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just">
              <a:lnSpc>
                <a:spcPts val="2601"/>
              </a:lnSpc>
              <a:buFont typeface="Arial" panose="020B0604020202020204" pitchFamily="34" charset="0"/>
              <a:buChar char="•"/>
            </a:pP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Mengurangi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Beban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Kerja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Admin Gudang</a:t>
            </a:r>
          </a:p>
          <a:p>
            <a:pPr marL="342900" lvl="0" indent="-342900" algn="just">
              <a:lnSpc>
                <a:spcPts val="2601"/>
              </a:lnSpc>
              <a:buFont typeface="Arial" panose="020B0604020202020204" pitchFamily="34" charset="0"/>
              <a:buChar char="•"/>
            </a:pPr>
            <a:endParaRPr lang="en-US" sz="2800" spc="-5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just">
              <a:lnSpc>
                <a:spcPts val="2601"/>
              </a:lnSpc>
              <a:buFont typeface="Arial" panose="020B0604020202020204" pitchFamily="34" charset="0"/>
              <a:buChar char="•"/>
            </a:pP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Menghitung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Total Paket &amp;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Mencatat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00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Semua</a:t>
            </a:r>
            <a:r>
              <a:rPr lang="en-US" sz="2800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Resi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94549"/>
            <a:ext cx="1849954" cy="1753617"/>
            <a:chOff x="0" y="0"/>
            <a:chExt cx="2466605" cy="2338156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338156"/>
              <a:chOff x="0" y="0"/>
              <a:chExt cx="787566" cy="74655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746553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46553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46553"/>
                    </a:lnTo>
                    <a:lnTo>
                      <a:pt x="0" y="74655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7846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84524"/>
              <a:ext cx="1828278" cy="1083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782"/>
                </a:lnSpc>
              </a:pPr>
              <a:r>
                <a:rPr lang="en-US" sz="5900" spc="-377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36445" y="2779355"/>
            <a:ext cx="7215109" cy="379246"/>
            <a:chOff x="0" y="0"/>
            <a:chExt cx="9620146" cy="505662"/>
          </a:xfrm>
        </p:grpSpPr>
        <p:sp>
          <p:nvSpPr>
            <p:cNvPr id="8" name="TextBox 8"/>
            <p:cNvSpPr txBox="1"/>
            <p:nvPr/>
          </p:nvSpPr>
          <p:spPr>
            <a:xfrm>
              <a:off x="0" y="25449"/>
              <a:ext cx="9403826" cy="480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86"/>
                </a:lnSpc>
              </a:pPr>
              <a:r>
                <a:rPr lang="en-US" sz="2132" b="1" spc="-53" dirty="0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PIPELINE DETEKSI DAN DECODING BARCODE OTOMATIS</a:t>
              </a:r>
            </a:p>
          </p:txBody>
        </p:sp>
        <p:sp>
          <p:nvSpPr>
            <p:cNvPr id="9" name="Freeform 9"/>
            <p:cNvSpPr/>
            <p:nvPr/>
          </p:nvSpPr>
          <p:spPr>
            <a:xfrm rot="-8687136">
              <a:off x="9303126" y="44820"/>
              <a:ext cx="252200" cy="304858"/>
            </a:xfrm>
            <a:custGeom>
              <a:avLst/>
              <a:gdLst/>
              <a:ahLst/>
              <a:cxnLst/>
              <a:rect l="l" t="t" r="r" b="b"/>
              <a:pathLst>
                <a:path w="252200" h="304858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3363658" y="1247968"/>
            <a:ext cx="11560683" cy="127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96"/>
              </a:lnSpc>
            </a:pPr>
            <a:r>
              <a:rPr lang="en-US" sz="9792" spc="-626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Model Overview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731310" y="3878731"/>
            <a:ext cx="3213033" cy="5379569"/>
            <a:chOff x="0" y="0"/>
            <a:chExt cx="1387961" cy="232385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2B42A8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935426" y="3878731"/>
            <a:ext cx="3213033" cy="5379569"/>
            <a:chOff x="0" y="0"/>
            <a:chExt cx="1387961" cy="23238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39541" y="3878731"/>
            <a:ext cx="3213033" cy="5379569"/>
            <a:chOff x="0" y="0"/>
            <a:chExt cx="1387961" cy="23238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6984FE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343657" y="3878731"/>
            <a:ext cx="3213033" cy="5379569"/>
            <a:chOff x="0" y="0"/>
            <a:chExt cx="1387961" cy="232385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9AAD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2595745" y="7780405"/>
            <a:ext cx="622999" cy="351870"/>
            <a:chOff x="0" y="0"/>
            <a:chExt cx="1387983" cy="78403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AFBE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5400000">
            <a:off x="5780811" y="5004756"/>
            <a:ext cx="622999" cy="351870"/>
            <a:chOff x="0" y="0"/>
            <a:chExt cx="1387983" cy="78403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2B42A8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 rot="5400000">
            <a:off x="8984927" y="7780405"/>
            <a:ext cx="622999" cy="351870"/>
            <a:chOff x="0" y="0"/>
            <a:chExt cx="1387983" cy="78403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 rot="5400000">
            <a:off x="12179518" y="5004756"/>
            <a:ext cx="622999" cy="351870"/>
            <a:chOff x="0" y="0"/>
            <a:chExt cx="1387983" cy="78403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6984FE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269864" y="4657344"/>
            <a:ext cx="2135924" cy="1680375"/>
            <a:chOff x="0" y="-19050"/>
            <a:chExt cx="2847898" cy="2240501"/>
          </a:xfrm>
        </p:grpSpPr>
        <p:sp>
          <p:nvSpPr>
            <p:cNvPr id="36" name="TextBox 36"/>
            <p:cNvSpPr txBox="1"/>
            <p:nvPr/>
          </p:nvSpPr>
          <p:spPr>
            <a:xfrm>
              <a:off x="0" y="-19050"/>
              <a:ext cx="2847898" cy="656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971"/>
                </a:lnSpc>
              </a:pPr>
              <a:r>
                <a:rPr lang="en-US" sz="1528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YOLOV8</a:t>
              </a:r>
            </a:p>
            <a:p>
              <a:pPr marL="0" lvl="0" indent="0" algn="just">
                <a:lnSpc>
                  <a:spcPts val="1971"/>
                </a:lnSpc>
              </a:pPr>
              <a:r>
                <a:rPr lang="en-US" sz="1528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DETECTION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934004"/>
              <a:ext cx="2847898" cy="1287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1864"/>
                </a:lnSpc>
              </a:pP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Object Detection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sebagai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"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mata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penunjuk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"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menemukan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kardus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/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paket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4470562" y="7518972"/>
            <a:ext cx="1445813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473980" y="7211436"/>
            <a:ext cx="2135924" cy="1432725"/>
            <a:chOff x="0" y="-19050"/>
            <a:chExt cx="2847898" cy="1910301"/>
          </a:xfrm>
        </p:grpSpPr>
        <p:sp>
          <p:nvSpPr>
            <p:cNvPr id="40" name="TextBox 40"/>
            <p:cNvSpPr txBox="1"/>
            <p:nvPr/>
          </p:nvSpPr>
          <p:spPr>
            <a:xfrm>
              <a:off x="0" y="-19050"/>
              <a:ext cx="2847898" cy="3259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971"/>
                </a:lnSpc>
              </a:pPr>
              <a:r>
                <a:rPr lang="en-US" sz="1528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CROPPING &amp; OTSU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603804"/>
              <a:ext cx="2847898" cy="1287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1864"/>
                </a:lnSpc>
              </a:pP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Crop area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paket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, Otsu's Thresholding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tingkatkan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kontras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barcode.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7425798" y="4070729"/>
            <a:ext cx="1578549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02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681912" y="4657344"/>
            <a:ext cx="2135924" cy="1680375"/>
            <a:chOff x="0" y="-19050"/>
            <a:chExt cx="2847898" cy="2240501"/>
          </a:xfrm>
        </p:grpSpPr>
        <p:sp>
          <p:nvSpPr>
            <p:cNvPr id="44" name="TextBox 44"/>
            <p:cNvSpPr txBox="1"/>
            <p:nvPr/>
          </p:nvSpPr>
          <p:spPr>
            <a:xfrm>
              <a:off x="0" y="-19050"/>
              <a:ext cx="2847898" cy="656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971"/>
                </a:lnSpc>
              </a:pPr>
              <a:r>
                <a:rPr lang="en-US" sz="1528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PYZBAR</a:t>
              </a:r>
            </a:p>
            <a:p>
              <a:pPr marL="0" lvl="0" indent="0" algn="just">
                <a:lnSpc>
                  <a:spcPts val="1971"/>
                </a:lnSpc>
              </a:pPr>
              <a:r>
                <a:rPr lang="en-US" sz="1528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DECODING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934004"/>
              <a:ext cx="2847898" cy="1287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1864"/>
                </a:lnSpc>
              </a:pP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"Mata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pembaca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"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untuk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decode barcode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dari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gambar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yang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telah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diproses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.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0617138" y="7518972"/>
            <a:ext cx="1711285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12886027" y="6963786"/>
            <a:ext cx="2135924" cy="1680375"/>
            <a:chOff x="0" y="-19050"/>
            <a:chExt cx="2847898" cy="2240501"/>
          </a:xfrm>
        </p:grpSpPr>
        <p:sp>
          <p:nvSpPr>
            <p:cNvPr id="48" name="TextBox 48"/>
            <p:cNvSpPr txBox="1"/>
            <p:nvPr/>
          </p:nvSpPr>
          <p:spPr>
            <a:xfrm>
              <a:off x="0" y="-19050"/>
              <a:ext cx="2847898" cy="6561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971"/>
                </a:lnSpc>
              </a:pPr>
              <a:r>
                <a:rPr lang="en-US" sz="1528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SQLITE</a:t>
              </a:r>
            </a:p>
            <a:p>
              <a:pPr marL="0" lvl="0" indent="0" algn="just">
                <a:lnSpc>
                  <a:spcPts val="1971"/>
                </a:lnSpc>
              </a:pPr>
              <a:r>
                <a:rPr lang="en-US" sz="1528" b="1" spc="-4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VALIDATION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934004"/>
              <a:ext cx="2847898" cy="12874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>
                <a:lnSpc>
                  <a:spcPts val="1864"/>
                </a:lnSpc>
              </a:pP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Validasi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otomatis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dengan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unique constraint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cegah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1445" spc="-4" dirty="0" err="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duplikasi</a:t>
              </a:r>
              <a:r>
                <a:rPr lang="en-US" sz="1445" spc="-4" dirty="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data.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3837845" y="4070729"/>
            <a:ext cx="1578549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938179" cy="10287000"/>
            <a:chOff x="0" y="0"/>
            <a:chExt cx="1827339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7339" cy="2709333"/>
            </a:xfrm>
            <a:custGeom>
              <a:avLst/>
              <a:gdLst/>
              <a:ahLst/>
              <a:cxnLst/>
              <a:rect l="l" t="t" r="r" b="b"/>
              <a:pathLst>
                <a:path w="1827339" h="2709333">
                  <a:moveTo>
                    <a:pt x="0" y="0"/>
                  </a:moveTo>
                  <a:lnTo>
                    <a:pt x="1827339" y="0"/>
                  </a:lnTo>
                  <a:lnTo>
                    <a:pt x="1827339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27339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343219" y="4032536"/>
            <a:ext cx="3189919" cy="620584"/>
          </a:xfrm>
          <a:custGeom>
            <a:avLst/>
            <a:gdLst/>
            <a:ahLst/>
            <a:cxnLst/>
            <a:rect l="l" t="t" r="r" b="b"/>
            <a:pathLst>
              <a:path w="3189919" h="620584">
                <a:moveTo>
                  <a:pt x="0" y="0"/>
                </a:moveTo>
                <a:lnTo>
                  <a:pt x="3189919" y="0"/>
                </a:lnTo>
                <a:lnTo>
                  <a:pt x="3189919" y="620584"/>
                </a:lnTo>
                <a:lnTo>
                  <a:pt x="0" y="6205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771854" y="7481758"/>
            <a:ext cx="2750398" cy="2371782"/>
            <a:chOff x="0" y="0"/>
            <a:chExt cx="567580" cy="5668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67580" cy="566868"/>
            </a:xfrm>
            <a:custGeom>
              <a:avLst/>
              <a:gdLst/>
              <a:ahLst/>
              <a:cxnLst/>
              <a:rect l="l" t="t" r="r" b="b"/>
              <a:pathLst>
                <a:path w="567580" h="566868">
                  <a:moveTo>
                    <a:pt x="119291" y="0"/>
                  </a:moveTo>
                  <a:lnTo>
                    <a:pt x="448289" y="0"/>
                  </a:lnTo>
                  <a:cubicBezTo>
                    <a:pt x="514171" y="0"/>
                    <a:pt x="567580" y="53408"/>
                    <a:pt x="567580" y="119291"/>
                  </a:cubicBezTo>
                  <a:lnTo>
                    <a:pt x="567580" y="447578"/>
                  </a:lnTo>
                  <a:cubicBezTo>
                    <a:pt x="567580" y="479216"/>
                    <a:pt x="555012" y="509558"/>
                    <a:pt x="532640" y="531929"/>
                  </a:cubicBezTo>
                  <a:cubicBezTo>
                    <a:pt x="510269" y="554300"/>
                    <a:pt x="479927" y="566868"/>
                    <a:pt x="448289" y="566868"/>
                  </a:cubicBezTo>
                  <a:lnTo>
                    <a:pt x="119291" y="566868"/>
                  </a:lnTo>
                  <a:cubicBezTo>
                    <a:pt x="87653" y="566868"/>
                    <a:pt x="57311" y="554300"/>
                    <a:pt x="34939" y="531929"/>
                  </a:cubicBezTo>
                  <a:cubicBezTo>
                    <a:pt x="12568" y="509558"/>
                    <a:pt x="0" y="479216"/>
                    <a:pt x="0" y="447578"/>
                  </a:cubicBezTo>
                  <a:lnTo>
                    <a:pt x="0" y="119291"/>
                  </a:lnTo>
                  <a:cubicBezTo>
                    <a:pt x="0" y="53408"/>
                    <a:pt x="53408" y="0"/>
                    <a:pt x="119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567580" cy="538293"/>
            </a:xfrm>
            <a:prstGeom prst="rect">
              <a:avLst/>
            </a:prstGeom>
          </p:spPr>
          <p:txBody>
            <a:bodyPr lIns="65745" tIns="65745" rIns="65745" bIns="65745" rtlCol="0" anchor="ctr"/>
            <a:lstStyle/>
            <a:p>
              <a:pPr marL="0" lvl="0" indent="0" algn="ctr">
                <a:lnSpc>
                  <a:spcPts val="246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926895" y="7912025"/>
            <a:ext cx="2459408" cy="80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24"/>
              </a:lnSpc>
            </a:pPr>
            <a:r>
              <a:rPr lang="en-US" sz="6085" b="1" spc="-182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100%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14972" y="8791937"/>
            <a:ext cx="1957200" cy="542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46"/>
              </a:lnSpc>
            </a:pPr>
            <a:r>
              <a:rPr lang="en-US" sz="1533" spc="-3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AKURASI PEMBACAAN BARCODE</a:t>
            </a:r>
          </a:p>
        </p:txBody>
      </p:sp>
      <p:sp>
        <p:nvSpPr>
          <p:cNvPr id="11" name="Freeform 11"/>
          <p:cNvSpPr/>
          <p:nvPr/>
        </p:nvSpPr>
        <p:spPr>
          <a:xfrm>
            <a:off x="958765" y="4027384"/>
            <a:ext cx="1073928" cy="1031350"/>
          </a:xfrm>
          <a:custGeom>
            <a:avLst/>
            <a:gdLst/>
            <a:ahLst/>
            <a:cxnLst/>
            <a:rect l="l" t="t" r="r" b="b"/>
            <a:pathLst>
              <a:path w="1073928" h="1031350">
                <a:moveTo>
                  <a:pt x="0" y="0"/>
                </a:moveTo>
                <a:lnTo>
                  <a:pt x="1073928" y="0"/>
                </a:lnTo>
                <a:lnTo>
                  <a:pt x="1073928" y="1031350"/>
                </a:lnTo>
                <a:lnTo>
                  <a:pt x="0" y="1031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5613790"/>
            <a:ext cx="4378886" cy="40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62"/>
              </a:lnSpc>
            </a:pPr>
            <a:r>
              <a:rPr lang="en-US" sz="160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YOLOV8 MAP50-95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6215346"/>
            <a:ext cx="4378886" cy="426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63"/>
              </a:lnSpc>
            </a:pPr>
            <a:r>
              <a:rPr lang="en-US" sz="13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Mean Average Precision dari training model pada dataset Roboflow.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28700" y="7229173"/>
            <a:ext cx="4378886" cy="719537"/>
            <a:chOff x="0" y="0"/>
            <a:chExt cx="5838515" cy="95938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161925"/>
              <a:ext cx="5838515" cy="4825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62"/>
                </a:lnSpc>
              </a:pPr>
              <a:r>
                <a:rPr lang="en-US" sz="1602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PYZBAR READ RATE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396648"/>
              <a:ext cx="5838515" cy="562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663"/>
                </a:lnSpc>
              </a:pPr>
              <a:r>
                <a:rPr lang="en-US" sz="1363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Tingkat keberhasilan pembacaan barcode dalam kondisi gambar bergerak.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00" y="8538763"/>
            <a:ext cx="4378886" cy="719537"/>
            <a:chOff x="0" y="0"/>
            <a:chExt cx="5838515" cy="959383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161925"/>
              <a:ext cx="5838515" cy="4825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62"/>
                </a:lnSpc>
              </a:pPr>
              <a:r>
                <a:rPr lang="en-US" sz="1602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VALIDASI SQLITE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396648"/>
              <a:ext cx="5838515" cy="5627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1663"/>
                </a:lnSpc>
              </a:pPr>
              <a:r>
                <a:rPr lang="en-US" sz="1363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Unique constraint mencegah duplikasi data resi secara otomatis.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427894" y="4462254"/>
            <a:ext cx="9831406" cy="2400777"/>
            <a:chOff x="1033544" y="7027419"/>
            <a:chExt cx="8996329" cy="2486640"/>
          </a:xfrm>
        </p:grpSpPr>
        <p:sp>
          <p:nvSpPr>
            <p:cNvPr id="25" name="TextBox 25"/>
            <p:cNvSpPr txBox="1"/>
            <p:nvPr/>
          </p:nvSpPr>
          <p:spPr>
            <a:xfrm>
              <a:off x="1033544" y="7027419"/>
              <a:ext cx="7126880" cy="3432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391"/>
                </a:lnSpc>
              </a:pPr>
              <a:r>
                <a:rPr lang="en-US" sz="2800" b="1" spc="-42" dirty="0">
                  <a:gradFill>
                    <a:gsLst>
                      <a:gs pos="0">
                        <a:srgbClr val="293E9C">
                          <a:alpha val="100000"/>
                        </a:srgbClr>
                      </a:gs>
                      <a:gs pos="100000">
                        <a:srgbClr val="3A58E4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KESIMPULAN PERBANDINGAN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3544" y="7846818"/>
              <a:ext cx="8996329" cy="166724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ct val="150000"/>
                </a:lnSpc>
              </a:pP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Scan via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rekaman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video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memberikan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performa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throughput 3.5x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lebih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cepat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disbanding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lewat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url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stream.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Akurasi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pembacaan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barcode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tetap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konsisten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100%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dengan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-US" sz="2400" dirty="0" err="1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jarak</a:t>
              </a:r>
              <a:r>
                <a:rPr lang="en-US" sz="2400" dirty="0">
                  <a:solidFill>
                    <a:srgbClr val="3A58E4"/>
                  </a:solidFill>
                  <a:latin typeface="Poppins"/>
                  <a:ea typeface="Poppins"/>
                  <a:cs typeface="Poppins"/>
                  <a:sym typeface="Poppins"/>
                </a:rPr>
                <a:t> optimal 20-30 cm.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28700" y="1196251"/>
            <a:ext cx="24226" cy="1038034"/>
            <a:chOff x="0" y="0"/>
            <a:chExt cx="12543" cy="5374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44711" y="1358622"/>
            <a:ext cx="2753109" cy="1043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86"/>
              </a:lnSpc>
            </a:pPr>
            <a:r>
              <a:rPr lang="en-US" sz="4067" spc="-260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Metrik Keberhasilan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3E945C7-77FE-FD64-C77E-3C57A286F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331510"/>
              </p:ext>
            </p:extLst>
          </p:nvPr>
        </p:nvGraphicFramePr>
        <p:xfrm>
          <a:off x="7427894" y="943336"/>
          <a:ext cx="10707705" cy="2848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733">
                  <a:extLst>
                    <a:ext uri="{9D8B030D-6E8A-4147-A177-3AD203B41FA5}">
                      <a16:colId xmlns:a16="http://schemas.microsoft.com/office/drawing/2014/main" val="433508408"/>
                    </a:ext>
                  </a:extLst>
                </a:gridCol>
                <a:gridCol w="1087501">
                  <a:extLst>
                    <a:ext uri="{9D8B030D-6E8A-4147-A177-3AD203B41FA5}">
                      <a16:colId xmlns:a16="http://schemas.microsoft.com/office/drawing/2014/main" val="3885363294"/>
                    </a:ext>
                  </a:extLst>
                </a:gridCol>
                <a:gridCol w="1589425">
                  <a:extLst>
                    <a:ext uri="{9D8B030D-6E8A-4147-A177-3AD203B41FA5}">
                      <a16:colId xmlns:a16="http://schemas.microsoft.com/office/drawing/2014/main" val="3832058626"/>
                    </a:ext>
                  </a:extLst>
                </a:gridCol>
                <a:gridCol w="1003847">
                  <a:extLst>
                    <a:ext uri="{9D8B030D-6E8A-4147-A177-3AD203B41FA5}">
                      <a16:colId xmlns:a16="http://schemas.microsoft.com/office/drawing/2014/main" val="1700026925"/>
                    </a:ext>
                  </a:extLst>
                </a:gridCol>
                <a:gridCol w="2844234">
                  <a:extLst>
                    <a:ext uri="{9D8B030D-6E8A-4147-A177-3AD203B41FA5}">
                      <a16:colId xmlns:a16="http://schemas.microsoft.com/office/drawing/2014/main" val="2057824790"/>
                    </a:ext>
                  </a:extLst>
                </a:gridCol>
                <a:gridCol w="2425965">
                  <a:extLst>
                    <a:ext uri="{9D8B030D-6E8A-4147-A177-3AD203B41FA5}">
                      <a16:colId xmlns:a16="http://schemas.microsoft.com/office/drawing/2014/main" val="1309332556"/>
                    </a:ext>
                  </a:extLst>
                </a:gridCol>
              </a:tblGrid>
              <a:tr h="74576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Mode Scan</a:t>
                      </a:r>
                      <a:endParaRPr lang="en-ID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FPS</a:t>
                      </a:r>
                      <a:endParaRPr lang="en-ID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Jarak Kamera</a:t>
                      </a:r>
                      <a:endParaRPr lang="en-ID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Akurasi</a:t>
                      </a:r>
                      <a:endParaRPr lang="en-ID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Throughput</a:t>
                      </a:r>
                      <a:endParaRPr lang="en-ID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Keberhasilan</a:t>
                      </a:r>
                      <a:r>
                        <a:rPr lang="en-US" sz="2000" dirty="0"/>
                        <a:t> Scan</a:t>
                      </a:r>
                      <a:endParaRPr lang="en-ID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9112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Via Video 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6-8 fps (frame skip 30)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100%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Scan 7 </a:t>
                      </a:r>
                      <a:r>
                        <a:rPr lang="en-US" sz="2000" dirty="0" err="1"/>
                        <a:t>paket</a:t>
                      </a:r>
                      <a:r>
                        <a:rPr lang="en-US" sz="2000" dirty="0"/>
                        <a:t> per 4 </a:t>
                      </a:r>
                      <a:r>
                        <a:rPr lang="en-US" sz="2000" dirty="0" err="1"/>
                        <a:t>detik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7/7 Paket (100%)</a:t>
                      </a:r>
                      <a:endParaRPr lang="en-ID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6787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URL Stream 1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3-7 fps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30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100%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Scan 5 </a:t>
                      </a:r>
                      <a:r>
                        <a:rPr lang="en-US" sz="2000" dirty="0" err="1"/>
                        <a:t>paket</a:t>
                      </a:r>
                      <a:r>
                        <a:rPr lang="en-US" sz="2000" dirty="0"/>
                        <a:t> per 10 </a:t>
                      </a:r>
                      <a:r>
                        <a:rPr lang="en-US" sz="2000" dirty="0" err="1"/>
                        <a:t>detik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5/6 Paket (83%)</a:t>
                      </a:r>
                      <a:endParaRPr lang="en-ID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1734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URL Stream 2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2-10 fps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45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100%</a:t>
                      </a:r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Scan 3 </a:t>
                      </a:r>
                      <a:r>
                        <a:rPr lang="en-US" sz="2000" dirty="0" err="1"/>
                        <a:t>paket</a:t>
                      </a:r>
                      <a:r>
                        <a:rPr lang="en-US" sz="2000" dirty="0"/>
                        <a:t> per 8 </a:t>
                      </a:r>
                      <a:r>
                        <a:rPr lang="en-US" sz="2000" dirty="0" err="1"/>
                        <a:t>detik</a:t>
                      </a:r>
                      <a:endParaRPr lang="en-ID" sz="2000" dirty="0"/>
                    </a:p>
                    <a:p>
                      <a:endParaRPr lang="en-ID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3/6 Paket (50%)</a:t>
                      </a:r>
                      <a:endParaRPr lang="en-ID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8107729"/>
                  </a:ext>
                </a:extLst>
              </a:tr>
            </a:tbl>
          </a:graphicData>
        </a:graphic>
      </p:graphicFrame>
      <p:grpSp>
        <p:nvGrpSpPr>
          <p:cNvPr id="37" name="Group 6">
            <a:extLst>
              <a:ext uri="{FF2B5EF4-FFF2-40B4-BE49-F238E27FC236}">
                <a16:creationId xmlns:a16="http://schemas.microsoft.com/office/drawing/2014/main" id="{A061D249-D8D0-FD64-696C-0B70B26693B8}"/>
              </a:ext>
            </a:extLst>
          </p:cNvPr>
          <p:cNvGrpSpPr/>
          <p:nvPr/>
        </p:nvGrpSpPr>
        <p:grpSpPr>
          <a:xfrm>
            <a:off x="9144000" y="7496118"/>
            <a:ext cx="2750398" cy="2371782"/>
            <a:chOff x="0" y="0"/>
            <a:chExt cx="567580" cy="566868"/>
          </a:xfrm>
        </p:grpSpPr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FC98DF40-2DF7-8E6F-B8EF-A00BD2344AB7}"/>
                </a:ext>
              </a:extLst>
            </p:cNvPr>
            <p:cNvSpPr/>
            <p:nvPr/>
          </p:nvSpPr>
          <p:spPr>
            <a:xfrm>
              <a:off x="0" y="0"/>
              <a:ext cx="567580" cy="566868"/>
            </a:xfrm>
            <a:custGeom>
              <a:avLst/>
              <a:gdLst/>
              <a:ahLst/>
              <a:cxnLst/>
              <a:rect l="l" t="t" r="r" b="b"/>
              <a:pathLst>
                <a:path w="567580" h="566868">
                  <a:moveTo>
                    <a:pt x="119291" y="0"/>
                  </a:moveTo>
                  <a:lnTo>
                    <a:pt x="448289" y="0"/>
                  </a:lnTo>
                  <a:cubicBezTo>
                    <a:pt x="514171" y="0"/>
                    <a:pt x="567580" y="53408"/>
                    <a:pt x="567580" y="119291"/>
                  </a:cubicBezTo>
                  <a:lnTo>
                    <a:pt x="567580" y="447578"/>
                  </a:lnTo>
                  <a:cubicBezTo>
                    <a:pt x="567580" y="479216"/>
                    <a:pt x="555012" y="509558"/>
                    <a:pt x="532640" y="531929"/>
                  </a:cubicBezTo>
                  <a:cubicBezTo>
                    <a:pt x="510269" y="554300"/>
                    <a:pt x="479927" y="566868"/>
                    <a:pt x="448289" y="566868"/>
                  </a:cubicBezTo>
                  <a:lnTo>
                    <a:pt x="119291" y="566868"/>
                  </a:lnTo>
                  <a:cubicBezTo>
                    <a:pt x="87653" y="566868"/>
                    <a:pt x="57311" y="554300"/>
                    <a:pt x="34939" y="531929"/>
                  </a:cubicBezTo>
                  <a:cubicBezTo>
                    <a:pt x="12568" y="509558"/>
                    <a:pt x="0" y="479216"/>
                    <a:pt x="0" y="447578"/>
                  </a:cubicBezTo>
                  <a:lnTo>
                    <a:pt x="0" y="119291"/>
                  </a:lnTo>
                  <a:cubicBezTo>
                    <a:pt x="0" y="53408"/>
                    <a:pt x="53408" y="0"/>
                    <a:pt x="1192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rnd">
              <a:noFill/>
              <a:prstDash val="solid"/>
              <a:round/>
            </a:ln>
          </p:spPr>
        </p:sp>
        <p:sp>
          <p:nvSpPr>
            <p:cNvPr id="39" name="TextBox 8">
              <a:extLst>
                <a:ext uri="{FF2B5EF4-FFF2-40B4-BE49-F238E27FC236}">
                  <a16:creationId xmlns:a16="http://schemas.microsoft.com/office/drawing/2014/main" id="{E91561FD-C0DD-CF52-AFE7-82E917CB280F}"/>
                </a:ext>
              </a:extLst>
            </p:cNvPr>
            <p:cNvSpPr txBox="1"/>
            <p:nvPr/>
          </p:nvSpPr>
          <p:spPr>
            <a:xfrm>
              <a:off x="0" y="28575"/>
              <a:ext cx="567580" cy="538293"/>
            </a:xfrm>
            <a:prstGeom prst="rect">
              <a:avLst/>
            </a:prstGeom>
          </p:spPr>
          <p:txBody>
            <a:bodyPr lIns="65745" tIns="65745" rIns="65745" bIns="65745" rtlCol="0" anchor="ctr"/>
            <a:lstStyle/>
            <a:p>
              <a:pPr marL="0" lvl="0" indent="0" algn="ctr">
                <a:lnSpc>
                  <a:spcPts val="2460"/>
                </a:lnSpc>
              </a:pPr>
              <a:endParaRPr/>
            </a:p>
          </p:txBody>
        </p:sp>
      </p:grpSp>
      <p:sp>
        <p:nvSpPr>
          <p:cNvPr id="40" name="TextBox 9">
            <a:extLst>
              <a:ext uri="{FF2B5EF4-FFF2-40B4-BE49-F238E27FC236}">
                <a16:creationId xmlns:a16="http://schemas.microsoft.com/office/drawing/2014/main" id="{6D473FAB-BD0D-1120-0905-CF967AF4D1AA}"/>
              </a:ext>
            </a:extLst>
          </p:cNvPr>
          <p:cNvSpPr txBox="1"/>
          <p:nvPr/>
        </p:nvSpPr>
        <p:spPr>
          <a:xfrm>
            <a:off x="9289495" y="7948710"/>
            <a:ext cx="2459408" cy="8075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24"/>
              </a:lnSpc>
            </a:pPr>
            <a:r>
              <a:rPr lang="en-US" sz="6085" b="1" spc="-182" dirty="0">
                <a:solidFill>
                  <a:srgbClr val="FFFF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78%</a:t>
            </a: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59E1DD07-FD2B-DD7A-A874-79F0C517C327}"/>
              </a:ext>
            </a:extLst>
          </p:cNvPr>
          <p:cNvSpPr txBox="1"/>
          <p:nvPr/>
        </p:nvSpPr>
        <p:spPr>
          <a:xfrm>
            <a:off x="9540599" y="8869382"/>
            <a:ext cx="1957200" cy="256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46"/>
              </a:lnSpc>
            </a:pPr>
            <a:r>
              <a:rPr lang="en-US" sz="1533" spc="-38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Keberhasilan</a:t>
            </a:r>
            <a:r>
              <a:rPr lang="en-US" sz="1533" spc="-38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Scan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rekaman scan video 7-7">
            <a:hlinkClick r:id="" action="ppaction://media"/>
            <a:extLst>
              <a:ext uri="{FF2B5EF4-FFF2-40B4-BE49-F238E27FC236}">
                <a16:creationId xmlns:a16="http://schemas.microsoft.com/office/drawing/2014/main" id="{ECB6A7BA-0945-F879-D545-1206F4AFBB1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990599" y="704849"/>
            <a:ext cx="7484535" cy="4210051"/>
          </a:xfrm>
          <a:prstGeom prst="rect">
            <a:avLst/>
          </a:prstGeom>
        </p:spPr>
      </p:pic>
      <p:pic>
        <p:nvPicPr>
          <p:cNvPr id="3" name="rekaman url stream 30cm 5-5">
            <a:hlinkClick r:id="" action="ppaction://media"/>
            <a:extLst>
              <a:ext uri="{FF2B5EF4-FFF2-40B4-BE49-F238E27FC236}">
                <a16:creationId xmlns:a16="http://schemas.microsoft.com/office/drawing/2014/main" id="{3B28A568-4978-9F66-7206-040EB592F10E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229600" y="190500"/>
            <a:ext cx="8077200" cy="45434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9F3118-1DA5-888F-F5C0-5D94757E6D3D}"/>
              </a:ext>
            </a:extLst>
          </p:cNvPr>
          <p:cNvSpPr txBox="1"/>
          <p:nvPr/>
        </p:nvSpPr>
        <p:spPr>
          <a:xfrm>
            <a:off x="8456991" y="5553076"/>
            <a:ext cx="5071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err="1"/>
              <a:t>rekaman</a:t>
            </a:r>
            <a:r>
              <a:rPr lang="en-ID" dirty="0"/>
              <a:t> </a:t>
            </a:r>
            <a:r>
              <a:rPr lang="en-ID" dirty="0" err="1"/>
              <a:t>url</a:t>
            </a:r>
            <a:r>
              <a:rPr lang="en-ID" dirty="0"/>
              <a:t> stream 30cm. 5/6 </a:t>
            </a:r>
            <a:r>
              <a:rPr lang="en-ID" dirty="0" err="1"/>
              <a:t>paket</a:t>
            </a:r>
            <a:r>
              <a:rPr lang="en-ID" dirty="0"/>
              <a:t> </a:t>
            </a:r>
            <a:r>
              <a:rPr lang="en-ID" dirty="0" err="1"/>
              <a:t>berhasil</a:t>
            </a:r>
            <a:r>
              <a:rPr lang="en-ID" dirty="0"/>
              <a:t> di scan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4CA277-9B67-1576-4BA7-13866E74EB18}"/>
              </a:ext>
            </a:extLst>
          </p:cNvPr>
          <p:cNvSpPr txBox="1"/>
          <p:nvPr/>
        </p:nvSpPr>
        <p:spPr>
          <a:xfrm>
            <a:off x="1015999" y="5737742"/>
            <a:ext cx="449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err="1"/>
              <a:t>rekaman</a:t>
            </a:r>
            <a:r>
              <a:rPr lang="en-ID" dirty="0"/>
              <a:t> scan video 7/7 </a:t>
            </a:r>
            <a:r>
              <a:rPr lang="en-ID" dirty="0" err="1"/>
              <a:t>paket</a:t>
            </a:r>
            <a:r>
              <a:rPr lang="en-ID" dirty="0"/>
              <a:t> </a:t>
            </a:r>
            <a:r>
              <a:rPr lang="en-ID" dirty="0" err="1"/>
              <a:t>berhasil</a:t>
            </a:r>
            <a:r>
              <a:rPr lang="en-ID" dirty="0"/>
              <a:t> di scan</a:t>
            </a:r>
          </a:p>
        </p:txBody>
      </p:sp>
      <p:pic>
        <p:nvPicPr>
          <p:cNvPr id="6" name="rekaman url stream 45cm 3-5">
            <a:hlinkClick r:id="" action="ppaction://media"/>
            <a:extLst>
              <a:ext uri="{FF2B5EF4-FFF2-40B4-BE49-F238E27FC236}">
                <a16:creationId xmlns:a16="http://schemas.microsoft.com/office/drawing/2014/main" id="{3A446A93-D9AF-F873-BA7F-71C45429F57B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267200" y="6137917"/>
            <a:ext cx="6858000" cy="38576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A093BD-3EA9-A94A-D170-2EFBC61D5F0D}"/>
              </a:ext>
            </a:extLst>
          </p:cNvPr>
          <p:cNvSpPr txBox="1"/>
          <p:nvPr/>
        </p:nvSpPr>
        <p:spPr>
          <a:xfrm>
            <a:off x="11513896" y="7882063"/>
            <a:ext cx="501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D" dirty="0" err="1"/>
              <a:t>rekaman</a:t>
            </a:r>
            <a:r>
              <a:rPr lang="en-ID" dirty="0"/>
              <a:t> </a:t>
            </a:r>
            <a:r>
              <a:rPr lang="en-ID" dirty="0" err="1"/>
              <a:t>url</a:t>
            </a:r>
            <a:r>
              <a:rPr lang="en-ID" dirty="0"/>
              <a:t> stream 45cm 3/6 </a:t>
            </a:r>
            <a:r>
              <a:rPr lang="en-ID" dirty="0" err="1"/>
              <a:t>paket</a:t>
            </a:r>
            <a:r>
              <a:rPr lang="en-ID" dirty="0"/>
              <a:t> </a:t>
            </a:r>
            <a:r>
              <a:rPr lang="en-ID" dirty="0" err="1"/>
              <a:t>berhasil</a:t>
            </a:r>
            <a:r>
              <a:rPr lang="en-ID" dirty="0"/>
              <a:t> di scan</a:t>
            </a:r>
          </a:p>
        </p:txBody>
      </p:sp>
    </p:spTree>
    <p:extLst>
      <p:ext uri="{BB962C8B-B14F-4D97-AF65-F5344CB8AC3E}">
        <p14:creationId xmlns:p14="http://schemas.microsoft.com/office/powerpoint/2010/main" val="2971436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860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261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28142" y="1358088"/>
            <a:ext cx="47625" cy="2040668"/>
            <a:chOff x="0" y="0"/>
            <a:chExt cx="12543" cy="5374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828142" y="4449725"/>
            <a:ext cx="9021242" cy="379246"/>
            <a:chOff x="0" y="0"/>
            <a:chExt cx="12028323" cy="505662"/>
          </a:xfrm>
        </p:grpSpPr>
        <p:sp>
          <p:nvSpPr>
            <p:cNvPr id="6" name="TextBox 6"/>
            <p:cNvSpPr txBox="1"/>
            <p:nvPr/>
          </p:nvSpPr>
          <p:spPr>
            <a:xfrm>
              <a:off x="0" y="90724"/>
              <a:ext cx="11773903" cy="4149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34"/>
                </a:lnSpc>
              </a:pPr>
              <a:r>
                <a:rPr lang="en-US" sz="1810" b="1" spc="-45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GAMBARAN DATASET YANG DIGUNAKAN UNTUK TRAINING DAN VALIDASI MODEL</a:t>
              </a:r>
            </a:p>
          </p:txBody>
        </p:sp>
        <p:sp>
          <p:nvSpPr>
            <p:cNvPr id="7" name="Freeform 7"/>
            <p:cNvSpPr/>
            <p:nvPr/>
          </p:nvSpPr>
          <p:spPr>
            <a:xfrm rot="-8687136">
              <a:off x="11711303" y="44820"/>
              <a:ext cx="252200" cy="304858"/>
            </a:xfrm>
            <a:custGeom>
              <a:avLst/>
              <a:gdLst/>
              <a:ahLst/>
              <a:cxnLst/>
              <a:rect l="l" t="t" r="r" b="b"/>
              <a:pathLst>
                <a:path w="252200" h="304858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6438046" y="233782"/>
            <a:ext cx="1849954" cy="1614384"/>
            <a:chOff x="0" y="0"/>
            <a:chExt cx="2466605" cy="2152512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2466605" cy="2152512"/>
              <a:chOff x="0" y="0"/>
              <a:chExt cx="787566" cy="687278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87566" cy="687278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687278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687278"/>
                    </a:lnTo>
                    <a:lnTo>
                      <a:pt x="0" y="68727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787566" cy="72537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19164" y="665474"/>
              <a:ext cx="1828278" cy="9168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07"/>
                </a:lnSpc>
              </a:pPr>
              <a:r>
                <a:rPr lang="en-US" sz="5007" spc="-320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05</a:t>
              </a:r>
            </a:p>
          </p:txBody>
        </p:sp>
      </p:grpSp>
      <p:sp>
        <p:nvSpPr>
          <p:cNvPr id="13" name="AutoShape 13"/>
          <p:cNvSpPr/>
          <p:nvPr/>
        </p:nvSpPr>
        <p:spPr>
          <a:xfrm flipH="1">
            <a:off x="654279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0" y="5320770"/>
            <a:ext cx="6542795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197452" y="174137"/>
            <a:ext cx="6165930" cy="4969363"/>
            <a:chOff x="0" y="0"/>
            <a:chExt cx="955264" cy="76988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5264" cy="769884"/>
            </a:xfrm>
            <a:custGeom>
              <a:avLst/>
              <a:gdLst/>
              <a:ahLst/>
              <a:cxnLst/>
              <a:rect l="l" t="t" r="r" b="b"/>
              <a:pathLst>
                <a:path w="955264" h="769884">
                  <a:moveTo>
                    <a:pt x="0" y="0"/>
                  </a:moveTo>
                  <a:lnTo>
                    <a:pt x="955264" y="0"/>
                  </a:lnTo>
                  <a:lnTo>
                    <a:pt x="955264" y="769884"/>
                  </a:lnTo>
                  <a:lnTo>
                    <a:pt x="0" y="769884"/>
                  </a:lnTo>
                  <a:close/>
                </a:path>
              </a:pathLst>
            </a:custGeom>
            <a:blipFill>
              <a:blip r:embed="rId3"/>
              <a:stretch>
                <a:fillRect t="-174" b="-174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8056208" y="1816525"/>
            <a:ext cx="7107541" cy="1911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34"/>
              </a:lnSpc>
            </a:pPr>
            <a:r>
              <a:rPr lang="en-US" sz="7484" spc="-47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Dataset</a:t>
            </a:r>
          </a:p>
          <a:p>
            <a:pPr marL="0" lvl="0" indent="0" algn="l">
              <a:lnSpc>
                <a:spcPts val="7334"/>
              </a:lnSpc>
            </a:pPr>
            <a:r>
              <a:rPr lang="en-US" sz="7484" spc="-478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Overview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828142" y="5655327"/>
            <a:ext cx="9021242" cy="3061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373"/>
              </a:lnSpc>
            </a:pP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Dataset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gambar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paket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logistik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diperoleh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platform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Roboflow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keperluan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training dan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validasi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model YOLOv8. </a:t>
            </a:r>
          </a:p>
          <a:p>
            <a:pPr marL="0" lvl="0" indent="0" algn="just">
              <a:lnSpc>
                <a:spcPts val="2373"/>
              </a:lnSpc>
            </a:pPr>
            <a:endParaRPr lang="en-US" sz="1695" spc="-5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373"/>
              </a:lnSpc>
            </a:pP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Dataset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ini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mencakup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berbagai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variasi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paket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ukuran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yang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berbeda-beda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</a:p>
          <a:p>
            <a:pPr marL="0" lvl="0" indent="0" algn="just">
              <a:lnSpc>
                <a:spcPts val="2373"/>
              </a:lnSpc>
            </a:pPr>
            <a:endParaRPr lang="en-US" sz="1695" spc="-5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373"/>
              </a:lnSpc>
            </a:pP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Labelling bounding box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dilakukan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mengidentifikasi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lokasi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paket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dalam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frame video. </a:t>
            </a:r>
          </a:p>
          <a:p>
            <a:pPr marL="0" lvl="0" indent="0" algn="just">
              <a:lnSpc>
                <a:spcPts val="2373"/>
              </a:lnSpc>
            </a:pPr>
            <a:endParaRPr lang="en-US" sz="1695" spc="-5" dirty="0">
              <a:solidFill>
                <a:srgbClr val="3A58E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>
              <a:lnSpc>
                <a:spcPts val="2373"/>
              </a:lnSpc>
            </a:pP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Variasi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kondisi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pencahayaan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sudut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pengambilan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gambar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membantu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model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lebih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robust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dalam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mendeteksi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paket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pada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kondisi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nyata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di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gudang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695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logistik</a:t>
            </a:r>
            <a:r>
              <a:rPr lang="en-US" sz="1695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81000" y="6149290"/>
            <a:ext cx="5116565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6000" spc="-733" dirty="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28 annotated images from </a:t>
            </a:r>
            <a:r>
              <a:rPr lang="en-US" sz="6000" spc="-733" dirty="0" err="1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Roboflow</a:t>
            </a:r>
            <a:endParaRPr lang="en-US" sz="6000" spc="-733" dirty="0">
              <a:gradFill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6766" y="2441554"/>
            <a:ext cx="5217559" cy="128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3"/>
              </a:lnSpc>
            </a:pPr>
            <a:r>
              <a:rPr lang="en-US" sz="9799" spc="-62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Insights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358088"/>
            <a:ext cx="47625" cy="2040668"/>
            <a:chOff x="0" y="0"/>
            <a:chExt cx="12543" cy="537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4312874"/>
            <a:ext cx="8172450" cy="379246"/>
            <a:chOff x="0" y="0"/>
            <a:chExt cx="10896600" cy="505662"/>
          </a:xfrm>
        </p:grpSpPr>
        <p:sp>
          <p:nvSpPr>
            <p:cNvPr id="7" name="TextBox 7"/>
            <p:cNvSpPr txBox="1"/>
            <p:nvPr/>
          </p:nvSpPr>
          <p:spPr>
            <a:xfrm>
              <a:off x="0" y="-49061"/>
              <a:ext cx="10820400" cy="5547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 b="1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TEMUAN KUNCI DARI PROYEK SCANNER LOGISTIK</a:t>
              </a:r>
            </a:p>
          </p:txBody>
        </p:sp>
        <p:sp>
          <p:nvSpPr>
            <p:cNvPr id="8" name="Freeform 8"/>
            <p:cNvSpPr/>
            <p:nvPr/>
          </p:nvSpPr>
          <p:spPr>
            <a:xfrm rot="-8687136">
              <a:off x="10579580" y="44820"/>
              <a:ext cx="252200" cy="304858"/>
            </a:xfrm>
            <a:custGeom>
              <a:avLst/>
              <a:gdLst/>
              <a:ahLst/>
              <a:cxnLst/>
              <a:rect l="l" t="t" r="r" b="b"/>
              <a:pathLst>
                <a:path w="252200" h="304858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438046" y="0"/>
            <a:ext cx="1849954" cy="1848166"/>
            <a:chOff x="0" y="0"/>
            <a:chExt cx="2466605" cy="2464222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466605" cy="2464222"/>
              <a:chOff x="0" y="0"/>
              <a:chExt cx="787566" cy="78680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86805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805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805"/>
                    </a:lnTo>
                    <a:lnTo>
                      <a:pt x="0" y="786805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824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19164" y="694049"/>
              <a:ext cx="1828278" cy="11999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5"/>
                </a:lnSpc>
              </a:pPr>
              <a:r>
                <a:rPr lang="en-US" sz="6557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06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10406565" y="1788576"/>
            <a:ext cx="6017405" cy="8357507"/>
          </a:xfrm>
          <a:custGeom>
            <a:avLst/>
            <a:gdLst/>
            <a:ahLst/>
            <a:cxnLst/>
            <a:rect l="l" t="t" r="r" b="b"/>
            <a:pathLst>
              <a:path w="6017405" h="8357507">
                <a:moveTo>
                  <a:pt x="0" y="0"/>
                </a:moveTo>
                <a:lnTo>
                  <a:pt x="6017405" y="0"/>
                </a:lnTo>
                <a:lnTo>
                  <a:pt x="6017405" y="8357506"/>
                </a:lnTo>
                <a:lnTo>
                  <a:pt x="0" y="8357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870201" y="5206470"/>
            <a:ext cx="7273799" cy="810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4"/>
              </a:lnSpc>
            </a:pPr>
            <a:r>
              <a:rPr lang="en-US" sz="2267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AI tidak perlu dilatih membaca teks resi, cukup mengenali "bentuk paket" saja.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70201" y="6197762"/>
            <a:ext cx="7273799" cy="810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4"/>
              </a:lnSpc>
            </a:pPr>
            <a:r>
              <a:rPr lang="en-US" sz="2267" spc="-56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Pembacaan resi lebih efektif dengan algoritma deterministik pembaca piksel (PyZbar).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70201" y="7189053"/>
            <a:ext cx="7273799" cy="810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4"/>
              </a:lnSpc>
            </a:pP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Kombinasi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YOLO +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PyZbar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memisahkan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tugas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deteksi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dan decoding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secara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optimal.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70201" y="8180345"/>
            <a:ext cx="7273799" cy="810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174"/>
              </a:lnSpc>
            </a:pP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Pendekatan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hybrid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ini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mengurangi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kompleksitas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training model AI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secara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67" spc="-56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signifikan</a:t>
            </a:r>
            <a:r>
              <a:rPr lang="en-US" sz="2267" spc="-56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52512" y="5400430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52512" y="6391722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52512" y="7383013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52512" y="8376909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2"/>
                </a:lnTo>
                <a:lnTo>
                  <a:pt x="0" y="4890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438046" y="129"/>
            <a:ext cx="1849954" cy="1848037"/>
            <a:chOff x="0" y="0"/>
            <a:chExt cx="2466605" cy="246405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TextBox 6"/>
            <p:cNvSpPr txBox="1"/>
            <p:nvPr/>
          </p:nvSpPr>
          <p:spPr>
            <a:xfrm>
              <a:off x="319164" y="694049"/>
              <a:ext cx="1828278" cy="1199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36445" y="2779313"/>
            <a:ext cx="7215109" cy="379289"/>
            <a:chOff x="0" y="0"/>
            <a:chExt cx="9620146" cy="505718"/>
          </a:xfrm>
        </p:grpSpPr>
        <p:sp>
          <p:nvSpPr>
            <p:cNvPr id="8" name="TextBox 8"/>
            <p:cNvSpPr txBox="1"/>
            <p:nvPr/>
          </p:nvSpPr>
          <p:spPr>
            <a:xfrm>
              <a:off x="0" y="-49061"/>
              <a:ext cx="9403826" cy="554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6"/>
                </a:lnSpc>
              </a:pPr>
              <a:r>
                <a:rPr lang="en-US" sz="2368" b="1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ALUR KERJA SISTEM SCANNING RESI OTOMATIS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363658" y="1247968"/>
            <a:ext cx="11560683" cy="1273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96"/>
              </a:lnSpc>
            </a:pPr>
            <a:r>
              <a:rPr lang="en-US" sz="9792" spc="-626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Methodology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2731310" y="3878731"/>
            <a:ext cx="3213033" cy="5379569"/>
            <a:chOff x="0" y="0"/>
            <a:chExt cx="1387961" cy="232385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2B42A8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935426" y="3878731"/>
            <a:ext cx="3213033" cy="5379569"/>
            <a:chOff x="0" y="0"/>
            <a:chExt cx="1387961" cy="23238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139541" y="3878731"/>
            <a:ext cx="3213033" cy="5379569"/>
            <a:chOff x="0" y="0"/>
            <a:chExt cx="1387961" cy="232385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6984F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343657" y="3878731"/>
            <a:ext cx="3213033" cy="5379569"/>
            <a:chOff x="0" y="0"/>
            <a:chExt cx="1387961" cy="232385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387961" cy="2323857"/>
            </a:xfrm>
            <a:custGeom>
              <a:avLst/>
              <a:gdLst/>
              <a:ahLst/>
              <a:cxnLst/>
              <a:rect l="l" t="t" r="r" b="b"/>
              <a:pathLst>
                <a:path w="1387961" h="2323857">
                  <a:moveTo>
                    <a:pt x="0" y="0"/>
                  </a:moveTo>
                  <a:lnTo>
                    <a:pt x="1387961" y="0"/>
                  </a:lnTo>
                  <a:lnTo>
                    <a:pt x="1387961" y="2323857"/>
                  </a:lnTo>
                  <a:lnTo>
                    <a:pt x="0" y="2323857"/>
                  </a:lnTo>
                  <a:close/>
                </a:path>
              </a:pathLst>
            </a:custGeom>
            <a:solidFill>
              <a:srgbClr val="9AAD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387961" cy="2361957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5400000">
            <a:off x="2595745" y="7780405"/>
            <a:ext cx="622999" cy="351870"/>
            <a:chOff x="0" y="0"/>
            <a:chExt cx="1387983" cy="78403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AFBE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 rot="5400000">
            <a:off x="5780811" y="5004756"/>
            <a:ext cx="622999" cy="351870"/>
            <a:chOff x="0" y="0"/>
            <a:chExt cx="1387983" cy="78403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2B42A8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5400000">
            <a:off x="8984927" y="7780405"/>
            <a:ext cx="622999" cy="351870"/>
            <a:chOff x="0" y="0"/>
            <a:chExt cx="1387983" cy="78403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5400000">
            <a:off x="12179518" y="5004756"/>
            <a:ext cx="622999" cy="351870"/>
            <a:chOff x="0" y="0"/>
            <a:chExt cx="1387983" cy="78403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387983" cy="782620"/>
            </a:xfrm>
            <a:custGeom>
              <a:avLst/>
              <a:gdLst/>
              <a:ahLst/>
              <a:cxnLst/>
              <a:rect l="l" t="t" r="r" b="b"/>
              <a:pathLst>
                <a:path w="1387983" h="782620">
                  <a:moveTo>
                    <a:pt x="693992" y="0"/>
                  </a:moveTo>
                  <a:lnTo>
                    <a:pt x="1387983" y="782620"/>
                  </a:lnTo>
                  <a:lnTo>
                    <a:pt x="0" y="782620"/>
                  </a:lnTo>
                  <a:close/>
                </a:path>
              </a:pathLst>
            </a:custGeom>
            <a:solidFill>
              <a:srgbClr val="6984FE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293871" y="292771"/>
              <a:ext cx="800241" cy="489849"/>
            </a:xfrm>
            <a:prstGeom prst="rect">
              <a:avLst/>
            </a:prstGeom>
          </p:spPr>
          <p:txBody>
            <a:bodyPr lIns="33379" tIns="33379" rIns="33379" bIns="33379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269864" y="4392470"/>
            <a:ext cx="2135924" cy="1891827"/>
            <a:chOff x="0" y="0"/>
            <a:chExt cx="2847898" cy="2522436"/>
          </a:xfrm>
        </p:grpSpPr>
        <p:sp>
          <p:nvSpPr>
            <p:cNvPr id="35" name="TextBox 35"/>
            <p:cNvSpPr txBox="1"/>
            <p:nvPr/>
          </p:nvSpPr>
          <p:spPr>
            <a:xfrm>
              <a:off x="0" y="-28575"/>
              <a:ext cx="2847898" cy="788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353"/>
                </a:lnSpc>
              </a:pPr>
              <a:r>
                <a:rPr lang="en-US" sz="1824" b="1" spc="-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VIDEO</a:t>
              </a:r>
            </a:p>
            <a:p>
              <a:pPr marL="0" lvl="0" indent="0" algn="just">
                <a:lnSpc>
                  <a:spcPts val="2353"/>
                </a:lnSpc>
              </a:pPr>
              <a:r>
                <a:rPr lang="en-US" sz="1824" b="1" spc="-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CAPTURE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1046964"/>
              <a:ext cx="2847898" cy="14754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26"/>
                </a:lnSpc>
              </a:pPr>
              <a:r>
                <a:rPr lang="en-US" sz="1725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Kamera menangkap video real-time paket di atas konveyor.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4470562" y="7518972"/>
            <a:ext cx="1445813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01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6473980" y="6146463"/>
            <a:ext cx="2135924" cy="2444277"/>
            <a:chOff x="0" y="0"/>
            <a:chExt cx="2847898" cy="3259036"/>
          </a:xfrm>
        </p:grpSpPr>
        <p:sp>
          <p:nvSpPr>
            <p:cNvPr id="39" name="TextBox 39"/>
            <p:cNvSpPr txBox="1"/>
            <p:nvPr/>
          </p:nvSpPr>
          <p:spPr>
            <a:xfrm>
              <a:off x="0" y="-28575"/>
              <a:ext cx="2847898" cy="788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353"/>
                </a:lnSpc>
              </a:pPr>
              <a:r>
                <a:rPr lang="en-US" sz="1824" b="1" spc="-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YOLO DETECTION &amp; CROPPING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1046964"/>
              <a:ext cx="2847898" cy="22120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26"/>
                </a:lnSpc>
              </a:pPr>
              <a:r>
                <a:rPr lang="en-US" sz="1725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YOLOv8 mendeteksi bounding box paket, lalu cropping area dengan padding.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7425798" y="4070729"/>
            <a:ext cx="1578549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02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9681912" y="4392470"/>
            <a:ext cx="2135924" cy="1891827"/>
            <a:chOff x="0" y="0"/>
            <a:chExt cx="2847898" cy="2522436"/>
          </a:xfrm>
        </p:grpSpPr>
        <p:sp>
          <p:nvSpPr>
            <p:cNvPr id="43" name="TextBox 43"/>
            <p:cNvSpPr txBox="1"/>
            <p:nvPr/>
          </p:nvSpPr>
          <p:spPr>
            <a:xfrm>
              <a:off x="0" y="-28575"/>
              <a:ext cx="2847898" cy="788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353"/>
                </a:lnSpc>
              </a:pPr>
              <a:r>
                <a:rPr lang="en-US" sz="1824" b="1" spc="-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GRAYSCALE &amp; OTSU BINARISASI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1046964"/>
              <a:ext cx="2847898" cy="14754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26"/>
                </a:lnSpc>
              </a:pPr>
              <a:r>
                <a:rPr lang="en-US" sz="1725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Konversi grayscale dan thresholding Otsu untuk kontras barcode optimal.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0617138" y="7518972"/>
            <a:ext cx="1711285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03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2886027" y="6127413"/>
            <a:ext cx="2135924" cy="2463327"/>
            <a:chOff x="0" y="0"/>
            <a:chExt cx="2847898" cy="3284436"/>
          </a:xfrm>
        </p:grpSpPr>
        <p:sp>
          <p:nvSpPr>
            <p:cNvPr id="47" name="TextBox 47"/>
            <p:cNvSpPr txBox="1"/>
            <p:nvPr/>
          </p:nvSpPr>
          <p:spPr>
            <a:xfrm>
              <a:off x="0" y="-28575"/>
              <a:ext cx="2847898" cy="11818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353"/>
                </a:lnSpc>
              </a:pPr>
              <a:r>
                <a:rPr lang="en-US" sz="1824" b="1" spc="-5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PYZBAR DECODING &amp; SQLITE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1440664"/>
              <a:ext cx="2847898" cy="18437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just">
                <a:lnSpc>
                  <a:spcPts val="2226"/>
                </a:lnSpc>
              </a:pPr>
              <a:r>
                <a:rPr lang="en-US" sz="1725" spc="-5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Decode barcode dengan PyZbar, validasi dan simpan ke SQLite database.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3837845" y="4070729"/>
            <a:ext cx="1578549" cy="1421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537"/>
              </a:lnSpc>
            </a:pPr>
            <a:r>
              <a:rPr lang="en-US" sz="8944" spc="-26">
                <a:solidFill>
                  <a:srgbClr val="FFFFFF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41311" y="0"/>
            <a:ext cx="546689" cy="7173190"/>
            <a:chOff x="0" y="0"/>
            <a:chExt cx="143984" cy="1889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984" cy="1889235"/>
            </a:xfrm>
            <a:custGeom>
              <a:avLst/>
              <a:gdLst/>
              <a:ahLst/>
              <a:cxnLst/>
              <a:rect l="l" t="t" r="r" b="b"/>
              <a:pathLst>
                <a:path w="143984" h="1889235">
                  <a:moveTo>
                    <a:pt x="0" y="0"/>
                  </a:moveTo>
                  <a:lnTo>
                    <a:pt x="143984" y="0"/>
                  </a:lnTo>
                  <a:lnTo>
                    <a:pt x="143984" y="1889235"/>
                  </a:lnTo>
                  <a:lnTo>
                    <a:pt x="0" y="1889235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984" cy="1927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H="1">
            <a:off x="444268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8872264" y="0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3301844" y="0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0" y="7173190"/>
            <a:ext cx="18288000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6305" y="9608"/>
            <a:ext cx="1197405" cy="1196165"/>
            <a:chOff x="0" y="0"/>
            <a:chExt cx="1596540" cy="1594886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42685" y="9608"/>
            <a:ext cx="1197405" cy="1196165"/>
            <a:chOff x="0" y="0"/>
            <a:chExt cx="1596540" cy="159488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875845" y="9608"/>
            <a:ext cx="1197405" cy="1196165"/>
            <a:chOff x="0" y="0"/>
            <a:chExt cx="1596540" cy="1594886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309005" y="9608"/>
            <a:ext cx="1197405" cy="1196165"/>
            <a:chOff x="0" y="0"/>
            <a:chExt cx="1596540" cy="1594886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10617313" y="1909470"/>
            <a:ext cx="870363" cy="771111"/>
          </a:xfrm>
          <a:custGeom>
            <a:avLst/>
            <a:gdLst/>
            <a:ahLst/>
            <a:cxnLst/>
            <a:rect l="l" t="t" r="r" b="b"/>
            <a:pathLst>
              <a:path w="870363" h="771111">
                <a:moveTo>
                  <a:pt x="0" y="0"/>
                </a:moveTo>
                <a:lnTo>
                  <a:pt x="870364" y="0"/>
                </a:lnTo>
                <a:lnTo>
                  <a:pt x="870364" y="771111"/>
                </a:lnTo>
                <a:lnTo>
                  <a:pt x="0" y="771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-5400000">
            <a:off x="14841252" y="1727888"/>
            <a:ext cx="1327968" cy="1136392"/>
          </a:xfrm>
          <a:custGeom>
            <a:avLst/>
            <a:gdLst/>
            <a:ahLst/>
            <a:cxnLst/>
            <a:rect l="l" t="t" r="r" b="b"/>
            <a:pathLst>
              <a:path w="1327968" h="1136392">
                <a:moveTo>
                  <a:pt x="0" y="0"/>
                </a:moveTo>
                <a:lnTo>
                  <a:pt x="1327968" y="0"/>
                </a:lnTo>
                <a:lnTo>
                  <a:pt x="1327968" y="1136392"/>
                </a:lnTo>
                <a:lnTo>
                  <a:pt x="0" y="11363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855735" y="1924061"/>
            <a:ext cx="759391" cy="754428"/>
          </a:xfrm>
          <a:custGeom>
            <a:avLst/>
            <a:gdLst/>
            <a:ahLst/>
            <a:cxnLst/>
            <a:rect l="l" t="t" r="r" b="b"/>
            <a:pathLst>
              <a:path w="759391" h="754428">
                <a:moveTo>
                  <a:pt x="0" y="0"/>
                </a:moveTo>
                <a:lnTo>
                  <a:pt x="759391" y="0"/>
                </a:lnTo>
                <a:lnTo>
                  <a:pt x="759391" y="754427"/>
                </a:lnTo>
                <a:lnTo>
                  <a:pt x="0" y="7544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1028700" y="8125800"/>
            <a:ext cx="22757" cy="975106"/>
            <a:chOff x="0" y="0"/>
            <a:chExt cx="12543" cy="5374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-9525" y="7173190"/>
            <a:ext cx="546689" cy="3113810"/>
            <a:chOff x="0" y="0"/>
            <a:chExt cx="143984" cy="82009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3984" cy="820098"/>
            </a:xfrm>
            <a:custGeom>
              <a:avLst/>
              <a:gdLst/>
              <a:ahLst/>
              <a:cxnLst/>
              <a:rect l="l" t="t" r="r" b="b"/>
              <a:pathLst>
                <a:path w="143984" h="820098">
                  <a:moveTo>
                    <a:pt x="0" y="0"/>
                  </a:moveTo>
                  <a:lnTo>
                    <a:pt x="143984" y="0"/>
                  </a:lnTo>
                  <a:lnTo>
                    <a:pt x="143984" y="820098"/>
                  </a:lnTo>
                  <a:lnTo>
                    <a:pt x="0" y="820098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43984" cy="858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6117561" y="1698584"/>
            <a:ext cx="1159493" cy="1186046"/>
          </a:xfrm>
          <a:custGeom>
            <a:avLst/>
            <a:gdLst/>
            <a:ahLst/>
            <a:cxnLst/>
            <a:rect l="l" t="t" r="r" b="b"/>
            <a:pathLst>
              <a:path w="1159493" h="1186046">
                <a:moveTo>
                  <a:pt x="0" y="0"/>
                </a:moveTo>
                <a:lnTo>
                  <a:pt x="1159493" y="0"/>
                </a:lnTo>
                <a:lnTo>
                  <a:pt x="1159493" y="1186047"/>
                </a:lnTo>
                <a:lnTo>
                  <a:pt x="0" y="11860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562973" y="4780341"/>
            <a:ext cx="3336787" cy="1538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6"/>
              </a:lnSpc>
            </a:pPr>
            <a:r>
              <a:rPr lang="en-US" sz="187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Solusi: Menggunakan kamera dengan lensa berkualitas lebih baik untuk meningkatkan keberhasilan pemindaian barcode.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989081" y="4780341"/>
            <a:ext cx="3336787" cy="1538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6"/>
              </a:lnSpc>
            </a:pP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Solusi: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Menyesuaikan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jarak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optimal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kamera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20-30 cm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sesuai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kualitas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kamera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hasil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scanning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maksimal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15189" y="4780341"/>
            <a:ext cx="3336787" cy="15382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6"/>
              </a:lnSpc>
            </a:pPr>
            <a:r>
              <a:rPr lang="en-US" sz="1874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Solusi: Otsu's Thresholding memisahkan hitam-putih dengan jelas dan whitelist symbols khusus barcode logistik di PyZbar.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844769" y="4780341"/>
            <a:ext cx="3336787" cy="152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6"/>
              </a:lnSpc>
            </a:pP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Solusi: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Mengecualikan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paket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	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barcode blur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dari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proses scanning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menghindari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error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pembacaan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4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resi</a:t>
            </a:r>
            <a:r>
              <a:rPr lang="en-US" sz="1874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7678" y="8075758"/>
            <a:ext cx="2762082" cy="1182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513"/>
              </a:lnSpc>
            </a:pPr>
            <a:r>
              <a:rPr lang="en-US" sz="4605" spc="-294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Challenges &amp; Solutions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89081" y="8422961"/>
            <a:ext cx="7762895" cy="677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62"/>
              </a:lnSpc>
            </a:pPr>
            <a:r>
              <a:rPr lang="en-US" sz="1901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Tantangan utama dalam sistem scanning resi logistik otomatis dan solusi teknis yang diterapkan untuk mengatasinya.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2270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  <a:spcBef>
                <a:spcPct val="0"/>
              </a:spcBef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KUALITAS KAMERA RENDAH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938378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  <a:spcBef>
                <a:spcPct val="0"/>
              </a:spcBef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JARAK KAMERA TERLALU JAUH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64486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MOTION BLUR SAAT BERGERAK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794066" y="3090400"/>
            <a:ext cx="3655731" cy="823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</a:pPr>
            <a:r>
              <a:rPr lang="en-US" sz="2388" b="1" spc="-152" dirty="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SULIT TERBACA JIKA BARCODE BLUR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56766" y="2441554"/>
            <a:ext cx="5217559" cy="128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3"/>
              </a:lnSpc>
            </a:pPr>
            <a:r>
              <a:rPr lang="en-US" sz="9799" spc="-627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Learnings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358088"/>
            <a:ext cx="47625" cy="2040668"/>
            <a:chOff x="0" y="0"/>
            <a:chExt cx="12543" cy="537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4312874"/>
            <a:ext cx="8172450" cy="379246"/>
            <a:chOff x="0" y="0"/>
            <a:chExt cx="10896600" cy="505662"/>
          </a:xfrm>
        </p:grpSpPr>
        <p:sp>
          <p:nvSpPr>
            <p:cNvPr id="7" name="TextBox 7"/>
            <p:cNvSpPr txBox="1"/>
            <p:nvPr/>
          </p:nvSpPr>
          <p:spPr>
            <a:xfrm>
              <a:off x="0" y="-49117"/>
              <a:ext cx="10820400" cy="5547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6"/>
                </a:lnSpc>
              </a:pPr>
              <a:r>
                <a:rPr lang="en-US" sz="2368" b="1" spc="-59">
                  <a:gradFill>
                    <a:gsLst>
                      <a:gs pos="0">
                        <a:srgbClr val="3A58E4">
                          <a:alpha val="100000"/>
                        </a:srgbClr>
                      </a:gs>
                      <a:gs pos="100000">
                        <a:srgbClr val="293E9C">
                          <a:alpha val="100000"/>
                        </a:srgbClr>
                      </a:gs>
                    </a:gsLst>
                    <a:path path="circle">
                      <a:fillToRect r="100000" b="100000"/>
                    </a:path>
                    <a:tileRect l="-100000" t="-100000"/>
                  </a:gradFill>
                  <a:latin typeface="Poppins Bold"/>
                  <a:ea typeface="Poppins Bold"/>
                  <a:cs typeface="Poppins Bold"/>
                  <a:sym typeface="Poppins Bold"/>
                </a:rPr>
                <a:t>KEY TAKEAWAYS: FAKTOR KEBERHASILAN SISTEM</a:t>
              </a:r>
            </a:p>
          </p:txBody>
        </p:sp>
        <p:sp>
          <p:nvSpPr>
            <p:cNvPr id="8" name="Freeform 8"/>
            <p:cNvSpPr/>
            <p:nvPr/>
          </p:nvSpPr>
          <p:spPr>
            <a:xfrm rot="-8687136">
              <a:off x="10579580" y="44820"/>
              <a:ext cx="252200" cy="304858"/>
            </a:xfrm>
            <a:custGeom>
              <a:avLst/>
              <a:gdLst/>
              <a:ahLst/>
              <a:cxnLst/>
              <a:rect l="l" t="t" r="r" b="b"/>
              <a:pathLst>
                <a:path w="252200" h="304858">
                  <a:moveTo>
                    <a:pt x="0" y="0"/>
                  </a:moveTo>
                  <a:lnTo>
                    <a:pt x="252200" y="0"/>
                  </a:lnTo>
                  <a:lnTo>
                    <a:pt x="252200" y="304857"/>
                  </a:lnTo>
                  <a:lnTo>
                    <a:pt x="0" y="3048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438046" y="129"/>
            <a:ext cx="1849954" cy="1848037"/>
            <a:chOff x="0" y="0"/>
            <a:chExt cx="2466605" cy="246405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2466605" cy="2464050"/>
              <a:chOff x="0" y="0"/>
              <a:chExt cx="787566" cy="7867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3A58E4">
                      <a:alpha val="100000"/>
                    </a:srgbClr>
                  </a:gs>
                  <a:gs pos="100000">
                    <a:srgbClr val="293E9C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319164" y="694049"/>
              <a:ext cx="1828278" cy="1199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6421"/>
                </a:lnSpc>
              </a:pPr>
              <a:r>
                <a:rPr lang="en-US" sz="6552" spc="-419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09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9928652" y="2643627"/>
            <a:ext cx="6886058" cy="6825805"/>
          </a:xfrm>
          <a:custGeom>
            <a:avLst/>
            <a:gdLst/>
            <a:ahLst/>
            <a:cxnLst/>
            <a:rect l="l" t="t" r="r" b="b"/>
            <a:pathLst>
              <a:path w="6886058" h="6825805">
                <a:moveTo>
                  <a:pt x="0" y="0"/>
                </a:moveTo>
                <a:lnTo>
                  <a:pt x="6886058" y="0"/>
                </a:lnTo>
                <a:lnTo>
                  <a:pt x="6886058" y="6825805"/>
                </a:lnTo>
                <a:lnTo>
                  <a:pt x="0" y="68258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870201" y="5231495"/>
            <a:ext cx="7273799" cy="78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88"/>
              </a:lnSpc>
            </a:pPr>
            <a:r>
              <a:rPr lang="en-US" sz="2206" spc="-5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Keberhasilan Computer Vision sangat tergantung pada kualitas input data yang diterima sistem.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70201" y="6222786"/>
            <a:ext cx="7273799" cy="785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088"/>
              </a:lnSpc>
            </a:pPr>
            <a:r>
              <a:rPr lang="en-US" sz="2206" spc="-5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Batasan operasional (jarak kamera, whitelist barcode) meningkatkan presisi dan mengurangi false positive.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70201" y="7214078"/>
            <a:ext cx="7273799" cy="1172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3088"/>
              </a:lnSpc>
            </a:pP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Memaksakan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model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bekerja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di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segala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kondisi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justru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menurunkan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performa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secara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keseluruhan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Optimasi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parameter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spesifik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lebih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206" spc="-5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efektif</a:t>
            </a:r>
            <a:r>
              <a:rPr lang="en-US" sz="2206" spc="-5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52512" y="5400430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52512" y="6391722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52512" y="7383013"/>
            <a:ext cx="489071" cy="489071"/>
          </a:xfrm>
          <a:custGeom>
            <a:avLst/>
            <a:gdLst/>
            <a:ahLst/>
            <a:cxnLst/>
            <a:rect l="l" t="t" r="r" b="b"/>
            <a:pathLst>
              <a:path w="489071" h="489071">
                <a:moveTo>
                  <a:pt x="0" y="0"/>
                </a:moveTo>
                <a:lnTo>
                  <a:pt x="489072" y="0"/>
                </a:lnTo>
                <a:lnTo>
                  <a:pt x="489072" y="489071"/>
                </a:lnTo>
                <a:lnTo>
                  <a:pt x="0" y="4890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741311" y="0"/>
            <a:ext cx="546689" cy="7173190"/>
            <a:chOff x="0" y="0"/>
            <a:chExt cx="143984" cy="18892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3984" cy="1889235"/>
            </a:xfrm>
            <a:custGeom>
              <a:avLst/>
              <a:gdLst/>
              <a:ahLst/>
              <a:cxnLst/>
              <a:rect l="l" t="t" r="r" b="b"/>
              <a:pathLst>
                <a:path w="143984" h="1889235">
                  <a:moveTo>
                    <a:pt x="0" y="0"/>
                  </a:moveTo>
                  <a:lnTo>
                    <a:pt x="143984" y="0"/>
                  </a:lnTo>
                  <a:lnTo>
                    <a:pt x="143984" y="1889235"/>
                  </a:lnTo>
                  <a:lnTo>
                    <a:pt x="0" y="1889235"/>
                  </a:lnTo>
                  <a:close/>
                </a:path>
              </a:pathLst>
            </a:custGeom>
            <a:gradFill rotWithShape="1">
              <a:gsLst>
                <a:gs pos="0">
                  <a:srgbClr val="293E9C">
                    <a:alpha val="100000"/>
                  </a:srgbClr>
                </a:gs>
                <a:gs pos="100000">
                  <a:srgbClr val="3A58E4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43984" cy="1927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H="1">
            <a:off x="4442685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8872264" y="0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3301844" y="0"/>
            <a:ext cx="0" cy="7163665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0" y="7173190"/>
            <a:ext cx="18288000" cy="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6305" y="9608"/>
            <a:ext cx="1197405" cy="1196165"/>
            <a:chOff x="0" y="0"/>
            <a:chExt cx="1596540" cy="1594886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442685" y="9608"/>
            <a:ext cx="1197405" cy="1196165"/>
            <a:chOff x="0" y="0"/>
            <a:chExt cx="1596540" cy="159488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875845" y="9608"/>
            <a:ext cx="1197405" cy="1196165"/>
            <a:chOff x="0" y="0"/>
            <a:chExt cx="1596540" cy="1594886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309005" y="9608"/>
            <a:ext cx="1197405" cy="1196165"/>
            <a:chOff x="0" y="0"/>
            <a:chExt cx="1596540" cy="1594886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1596540" cy="1594886"/>
              <a:chOff x="0" y="0"/>
              <a:chExt cx="787566" cy="78675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787566" cy="786750"/>
              </a:xfrm>
              <a:custGeom>
                <a:avLst/>
                <a:gdLst/>
                <a:ahLst/>
                <a:cxnLst/>
                <a:rect l="l" t="t" r="r" b="b"/>
                <a:pathLst>
                  <a:path w="787566" h="786750">
                    <a:moveTo>
                      <a:pt x="0" y="0"/>
                    </a:moveTo>
                    <a:lnTo>
                      <a:pt x="787566" y="0"/>
                    </a:lnTo>
                    <a:lnTo>
                      <a:pt x="787566" y="786750"/>
                    </a:lnTo>
                    <a:lnTo>
                      <a:pt x="0" y="78675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293E9C">
                      <a:alpha val="100000"/>
                    </a:srgbClr>
                  </a:gs>
                  <a:gs pos="100000">
                    <a:srgbClr val="3A58E4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787566" cy="8248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206583" y="454809"/>
              <a:ext cx="1183375" cy="770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156"/>
                </a:lnSpc>
              </a:pPr>
              <a:r>
                <a:rPr lang="en-US" sz="4241" spc="-271">
                  <a:solidFill>
                    <a:srgbClr val="FFFFFF"/>
                  </a:solidFill>
                  <a:latin typeface="Bricolage Grotesque"/>
                  <a:ea typeface="Bricolage Grotesque"/>
                  <a:cs typeface="Bricolage Grotesque"/>
                  <a:sym typeface="Bricolage Grotesque"/>
                </a:rPr>
                <a:t>04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10610858" y="1766143"/>
            <a:ext cx="908389" cy="956753"/>
          </a:xfrm>
          <a:custGeom>
            <a:avLst/>
            <a:gdLst/>
            <a:ahLst/>
            <a:cxnLst/>
            <a:rect l="l" t="t" r="r" b="b"/>
            <a:pathLst>
              <a:path w="908389" h="956753">
                <a:moveTo>
                  <a:pt x="0" y="0"/>
                </a:moveTo>
                <a:lnTo>
                  <a:pt x="908389" y="0"/>
                </a:lnTo>
                <a:lnTo>
                  <a:pt x="908389" y="956753"/>
                </a:lnTo>
                <a:lnTo>
                  <a:pt x="0" y="9567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 rot="-5400000">
            <a:off x="15038067" y="1810727"/>
            <a:ext cx="918921" cy="971430"/>
          </a:xfrm>
          <a:custGeom>
            <a:avLst/>
            <a:gdLst/>
            <a:ahLst/>
            <a:cxnLst/>
            <a:rect l="l" t="t" r="r" b="b"/>
            <a:pathLst>
              <a:path w="918921" h="971430">
                <a:moveTo>
                  <a:pt x="0" y="0"/>
                </a:moveTo>
                <a:lnTo>
                  <a:pt x="918921" y="0"/>
                </a:lnTo>
                <a:lnTo>
                  <a:pt x="918921" y="971430"/>
                </a:lnTo>
                <a:lnTo>
                  <a:pt x="0" y="9714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768483" y="1978443"/>
            <a:ext cx="930944" cy="560050"/>
          </a:xfrm>
          <a:custGeom>
            <a:avLst/>
            <a:gdLst/>
            <a:ahLst/>
            <a:cxnLst/>
            <a:rect l="l" t="t" r="r" b="b"/>
            <a:pathLst>
              <a:path w="930944" h="560050">
                <a:moveTo>
                  <a:pt x="0" y="0"/>
                </a:moveTo>
                <a:lnTo>
                  <a:pt x="930944" y="0"/>
                </a:lnTo>
                <a:lnTo>
                  <a:pt x="930944" y="560050"/>
                </a:lnTo>
                <a:lnTo>
                  <a:pt x="0" y="560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1028700" y="8125800"/>
            <a:ext cx="22757" cy="975106"/>
            <a:chOff x="0" y="0"/>
            <a:chExt cx="12543" cy="5374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543" cy="537460"/>
            </a:xfrm>
            <a:custGeom>
              <a:avLst/>
              <a:gdLst/>
              <a:ahLst/>
              <a:cxnLst/>
              <a:rect l="l" t="t" r="r" b="b"/>
              <a:pathLst>
                <a:path w="12543" h="537460">
                  <a:moveTo>
                    <a:pt x="0" y="0"/>
                  </a:moveTo>
                  <a:lnTo>
                    <a:pt x="12543" y="0"/>
                  </a:lnTo>
                  <a:lnTo>
                    <a:pt x="12543" y="537460"/>
                  </a:lnTo>
                  <a:lnTo>
                    <a:pt x="0" y="537460"/>
                  </a:lnTo>
                  <a:close/>
                </a:path>
              </a:pathLst>
            </a:custGeom>
            <a:solidFill>
              <a:srgbClr val="3A58E4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2543" cy="575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-9525" y="7173190"/>
            <a:ext cx="546689" cy="3113810"/>
            <a:chOff x="0" y="0"/>
            <a:chExt cx="143984" cy="82009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43984" cy="820098"/>
            </a:xfrm>
            <a:custGeom>
              <a:avLst/>
              <a:gdLst/>
              <a:ahLst/>
              <a:cxnLst/>
              <a:rect l="l" t="t" r="r" b="b"/>
              <a:pathLst>
                <a:path w="143984" h="820098">
                  <a:moveTo>
                    <a:pt x="0" y="0"/>
                  </a:moveTo>
                  <a:lnTo>
                    <a:pt x="143984" y="0"/>
                  </a:lnTo>
                  <a:lnTo>
                    <a:pt x="143984" y="820098"/>
                  </a:lnTo>
                  <a:lnTo>
                    <a:pt x="0" y="820098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143984" cy="8581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6193342" y="1689669"/>
            <a:ext cx="1001453" cy="1200017"/>
          </a:xfrm>
          <a:custGeom>
            <a:avLst/>
            <a:gdLst/>
            <a:ahLst/>
            <a:cxnLst/>
            <a:rect l="l" t="t" r="r" b="b"/>
            <a:pathLst>
              <a:path w="1001453" h="1200017">
                <a:moveTo>
                  <a:pt x="0" y="0"/>
                </a:moveTo>
                <a:lnTo>
                  <a:pt x="1001453" y="0"/>
                </a:lnTo>
                <a:lnTo>
                  <a:pt x="1001453" y="1200018"/>
                </a:lnTo>
                <a:lnTo>
                  <a:pt x="0" y="12000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562973" y="4475524"/>
            <a:ext cx="3336787" cy="18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Aplikasi dan backend di-deploy pada VM terdedikasi untuk memastikan performa stabil dan akses dari multi-cabang gudang secara bersamaan.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989081" y="4475524"/>
            <a:ext cx="3336787" cy="18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Migrasi dari SQLite ke PostgreSQL untuk skalabilitas lebih baik, mendukung concurrent access dan data integrity untuk operasi multi-lokasi.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415189" y="4475524"/>
            <a:ext cx="3336787" cy="1843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Integrasi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n8n automation platform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memproses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event scanning dan trigger workflow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otomatis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berdasarkan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kategori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paket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844768" y="4490706"/>
            <a:ext cx="3336787" cy="153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435"/>
              </a:lnSpc>
            </a:pP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Notifikasi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real-time via Telegram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untuk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paket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kategori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VIP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atau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Fragile,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memastikan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penanganan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prioritas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oleh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tim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73" spc="-5" dirty="0" err="1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gudang</a:t>
            </a:r>
            <a:r>
              <a:rPr lang="en-US" sz="1873" spc="-5" dirty="0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7677" y="8317365"/>
            <a:ext cx="3053321" cy="940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70"/>
              </a:lnSpc>
            </a:pPr>
            <a:r>
              <a:rPr lang="en-US" sz="3642" spc="-233" dirty="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Future Improvements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89081" y="8088378"/>
            <a:ext cx="7762895" cy="1012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60"/>
              </a:lnSpc>
            </a:pPr>
            <a:r>
              <a:rPr lang="en-US" sz="1900" spc="-5">
                <a:solidFill>
                  <a:srgbClr val="3A58E4"/>
                </a:solidFill>
                <a:latin typeface="Poppins"/>
                <a:ea typeface="Poppins"/>
                <a:cs typeface="Poppins"/>
                <a:sym typeface="Poppins"/>
              </a:rPr>
              <a:t>Pengembangan sistem scanner logistik untuk deployment skala enterprise dengan akses terdistribusi dan notifikasi otomatis untuk penanganan paket prioritas.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2270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  <a:spcBef>
                <a:spcPct val="0"/>
              </a:spcBef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DEPLOY KE VIRTUAL MACHINE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938378" y="3090400"/>
            <a:ext cx="3438193" cy="406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  <a:spcBef>
                <a:spcPct val="0"/>
              </a:spcBef>
            </a:pPr>
            <a:r>
              <a:rPr lang="en-US" sz="2388" b="1" spc="-152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DATABASE POSTGRESQL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364486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</a:pPr>
            <a:r>
              <a:rPr lang="en-US" sz="2388" b="1" spc="-152" dirty="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INTEGRASI WEBHOOK N8N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794066" y="3090400"/>
            <a:ext cx="3438193" cy="82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43"/>
              </a:lnSpc>
            </a:pPr>
            <a:r>
              <a:rPr lang="en-US" sz="2388" b="1" spc="-152" dirty="0">
                <a:gradFill>
                  <a:gsLst>
                    <a:gs pos="0">
                      <a:srgbClr val="3A58E4">
                        <a:alpha val="100000"/>
                      </a:srgbClr>
                    </a:gs>
                    <a:gs pos="100000">
                      <a:srgbClr val="293E9C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NOTIFIKASI TELEGRAM OTOMATIS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641386" y="0"/>
            <a:ext cx="4646614" cy="10287000"/>
            <a:chOff x="0" y="0"/>
            <a:chExt cx="1223800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23800" cy="2709333"/>
            </a:xfrm>
            <a:custGeom>
              <a:avLst/>
              <a:gdLst/>
              <a:ahLst/>
              <a:cxnLst/>
              <a:rect l="l" t="t" r="r" b="b"/>
              <a:pathLst>
                <a:path w="1223800" h="2709333">
                  <a:moveTo>
                    <a:pt x="0" y="0"/>
                  </a:moveTo>
                  <a:lnTo>
                    <a:pt x="1223800" y="0"/>
                  </a:lnTo>
                  <a:lnTo>
                    <a:pt x="1223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A58E4">
                    <a:alpha val="100000"/>
                  </a:srgbClr>
                </a:gs>
                <a:gs pos="100000">
                  <a:srgbClr val="293E9C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2380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102839" y="1172167"/>
            <a:ext cx="1723707" cy="7645355"/>
            <a:chOff x="0" y="0"/>
            <a:chExt cx="2298277" cy="10193807"/>
          </a:xfrm>
        </p:grpSpPr>
        <p:sp>
          <p:nvSpPr>
            <p:cNvPr id="6" name="Freeform 6"/>
            <p:cNvSpPr/>
            <p:nvPr/>
          </p:nvSpPr>
          <p:spPr>
            <a:xfrm>
              <a:off x="725460" y="0"/>
              <a:ext cx="834331" cy="947395"/>
            </a:xfrm>
            <a:custGeom>
              <a:avLst/>
              <a:gdLst/>
              <a:ahLst/>
              <a:cxnLst/>
              <a:rect l="l" t="t" r="r" b="b"/>
              <a:pathLst>
                <a:path w="834331" h="947395">
                  <a:moveTo>
                    <a:pt x="0" y="0"/>
                  </a:moveTo>
                  <a:lnTo>
                    <a:pt x="834332" y="0"/>
                  </a:lnTo>
                  <a:lnTo>
                    <a:pt x="834332" y="947395"/>
                  </a:lnTo>
                  <a:lnTo>
                    <a:pt x="0" y="947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1253510"/>
              <a:ext cx="2272228" cy="357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925"/>
                </a:lnSpc>
              </a:pPr>
              <a:r>
                <a:rPr lang="en-US" sz="17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AI Engineering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024" y="1610617"/>
              <a:ext cx="2272228" cy="357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925"/>
                </a:lnSpc>
              </a:pPr>
              <a:r>
                <a:rPr lang="en-US" sz="17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Final Project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024" y="9479592"/>
              <a:ext cx="2272228" cy="357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925"/>
                </a:lnSpc>
              </a:pPr>
              <a:r>
                <a:rPr lang="en-US" sz="1799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049" y="9836699"/>
              <a:ext cx="2272228" cy="357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925"/>
                </a:lnSpc>
              </a:pPr>
              <a:r>
                <a:rPr lang="en-US" sz="17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of 11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86465" y="0"/>
            <a:ext cx="4378150" cy="10287000"/>
            <a:chOff x="0" y="0"/>
            <a:chExt cx="678290" cy="159372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78290" cy="1593725"/>
            </a:xfrm>
            <a:custGeom>
              <a:avLst/>
              <a:gdLst/>
              <a:ahLst/>
              <a:cxnLst/>
              <a:rect l="l" t="t" r="r" b="b"/>
              <a:pathLst>
                <a:path w="678290" h="1593725">
                  <a:moveTo>
                    <a:pt x="0" y="0"/>
                  </a:moveTo>
                  <a:lnTo>
                    <a:pt x="678290" y="0"/>
                  </a:lnTo>
                  <a:lnTo>
                    <a:pt x="678290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3"/>
              <a:stretch>
                <a:fillRect l="-16964" r="-16964"/>
              </a:stretch>
            </a:blipFill>
          </p:spPr>
        </p:sp>
      </p:grpSp>
      <p:sp>
        <p:nvSpPr>
          <p:cNvPr id="16" name="AutoShape 16"/>
          <p:cNvSpPr/>
          <p:nvPr/>
        </p:nvSpPr>
        <p:spPr>
          <a:xfrm>
            <a:off x="13503000" y="0"/>
            <a:ext cx="0" cy="10287000"/>
          </a:xfrm>
          <a:prstGeom prst="line">
            <a:avLst/>
          </a:prstGeom>
          <a:ln w="19050" cap="rnd">
            <a:solidFill>
              <a:srgbClr val="3A58E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14650619" y="4976283"/>
            <a:ext cx="2628148" cy="1983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08"/>
              </a:lnSpc>
            </a:pPr>
            <a:r>
              <a:rPr lang="en-US" sz="1434" spc="-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Saksikan demo aplikasi scanning resi logistik otomatis menggunakan YOLOv8 &amp; PyZbar. Lihat bagaimana sistem mendeteksi paket dan membaca barcode secara real-time di konveyor.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8200" y="7121840"/>
            <a:ext cx="8009880" cy="384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501"/>
              </a:lnSpc>
            </a:pPr>
            <a:r>
              <a:rPr lang="en-US" sz="4000" b="1" spc="-83" dirty="0" err="1">
                <a:solidFill>
                  <a:schemeClr val="accent4">
                    <a:lumMod val="7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konveyor-apps.streamlit.app</a:t>
            </a:r>
            <a:endParaRPr lang="en-US" sz="4000" b="1" spc="-83" dirty="0">
              <a:solidFill>
                <a:schemeClr val="accent4">
                  <a:lumMod val="75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028700" y="857250"/>
            <a:ext cx="6671890" cy="1460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905"/>
              </a:lnSpc>
              <a:spcBef>
                <a:spcPct val="0"/>
              </a:spcBef>
            </a:pPr>
            <a:r>
              <a:rPr lang="en-US" sz="8504" b="1" spc="-544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Canva Sans Bold"/>
                <a:ea typeface="Canva Sans Bold"/>
                <a:cs typeface="Canva Sans Bold"/>
                <a:sym typeface="Canva Sans Bold"/>
              </a:rPr>
              <a:t>Demo Link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09233" y="3185884"/>
            <a:ext cx="6671890" cy="3237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333"/>
              </a:lnSpc>
            </a:pPr>
            <a:r>
              <a:rPr lang="en-US" sz="8504" spc="-544" dirty="0" err="1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Terima</a:t>
            </a:r>
            <a:r>
              <a:rPr lang="en-US" sz="8504" spc="-544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8504" spc="-544" dirty="0" err="1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kasih</a:t>
            </a:r>
            <a:r>
              <a:rPr lang="en-US" sz="8504" spc="-544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!</a:t>
            </a:r>
          </a:p>
          <a:p>
            <a:pPr marL="0" lvl="0" indent="0" algn="just">
              <a:lnSpc>
                <a:spcPts val="8333"/>
              </a:lnSpc>
            </a:pPr>
            <a:r>
              <a:rPr lang="en-US" sz="8504" spc="-544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Ayo </a:t>
            </a:r>
            <a:r>
              <a:rPr lang="en-US" sz="8504" spc="-544" dirty="0" err="1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lihat</a:t>
            </a:r>
            <a:r>
              <a:rPr lang="en-US" sz="8504" spc="-544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 demo</a:t>
            </a:r>
          </a:p>
          <a:p>
            <a:pPr marL="0" lvl="0" indent="0" algn="just">
              <a:lnSpc>
                <a:spcPts val="8333"/>
              </a:lnSpc>
            </a:pPr>
            <a:r>
              <a:rPr lang="en-US" sz="8504" spc="-544" dirty="0" err="1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aplikasi</a:t>
            </a:r>
            <a:r>
              <a:rPr lang="en-US" sz="8504" spc="-544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 </a:t>
            </a:r>
            <a:r>
              <a:rPr lang="en-US" sz="8504" spc="-544" dirty="0" err="1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ini</a:t>
            </a:r>
            <a:r>
              <a:rPr lang="en-US" sz="8504" spc="-544" dirty="0">
                <a:gradFill>
                  <a:gsLst>
                    <a:gs pos="0">
                      <a:srgbClr val="293E9C">
                        <a:alpha val="100000"/>
                      </a:srgbClr>
                    </a:gs>
                    <a:gs pos="100000">
                      <a:srgbClr val="3A58E4">
                        <a:alpha val="100000"/>
                      </a:srgbClr>
                    </a:gs>
                  </a:gsLst>
                  <a:path path="circle">
                    <a:fillToRect r="100000" b="100000"/>
                  </a:path>
                  <a:tileRect l="-100000" t="-100000"/>
                </a:gradFill>
                <a:latin typeface="Bricolage Grotesque"/>
                <a:ea typeface="Bricolage Grotesque"/>
                <a:cs typeface="Bricolage Grotesque"/>
                <a:sym typeface="Bricolage Grotesque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827</Words>
  <Application>Microsoft Office PowerPoint</Application>
  <PresentationFormat>Custom</PresentationFormat>
  <Paragraphs>158</Paragraphs>
  <Slides>12</Slides>
  <Notes>1</Notes>
  <HiddenSlides>0</HiddenSlides>
  <MMClips>3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Poppins Bold</vt:lpstr>
      <vt:lpstr>Bricolage Grotesque Bold</vt:lpstr>
      <vt:lpstr>Canva Sans Bold</vt:lpstr>
      <vt:lpstr>Bricolage Grotesque</vt:lpstr>
      <vt:lpstr>Arial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Otomatisasi Scanning Resi Logistik dengan YOLOv8 &amp; PyZbar</dc:title>
  <cp:lastModifiedBy>akbar asyidqi</cp:lastModifiedBy>
  <cp:revision>4</cp:revision>
  <dcterms:created xsi:type="dcterms:W3CDTF">2006-08-16T00:00:00Z</dcterms:created>
  <dcterms:modified xsi:type="dcterms:W3CDTF">2026-06-13T21:42:20Z</dcterms:modified>
  <dc:identifier>DAHKk74fauw</dc:identifier>
</cp:coreProperties>
</file>