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7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Bricolage Grotesque" panose="020B0604020202020204" charset="0"/>
      <p:regular r:id="rId14"/>
    </p:embeddedFont>
    <p:embeddedFont>
      <p:font typeface="Bricolage Grotesque Bold" panose="020B0604020202020204" charset="0"/>
      <p:regular r:id="rId15"/>
    </p:embeddedFont>
    <p:embeddedFont>
      <p:font typeface="Canva Sans Bold" panose="020B0604020202020204" charset="0"/>
      <p:regular r:id="rId16"/>
    </p:embeddedFont>
    <p:embeddedFont>
      <p:font typeface="Poppins" panose="00000500000000000000" pitchFamily="2" charset="0"/>
      <p:regular r:id="rId17"/>
      <p:bold r:id="rId18"/>
    </p:embeddedFont>
    <p:embeddedFont>
      <p:font typeface="Poppins Bold" panose="00000800000000000000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899876-A6AC-46A8-B618-F66F2B94BA05}" type="datetimeFigureOut">
              <a:rPr lang="en-ID" smtClean="0"/>
              <a:t>14/06/2026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599BF5-828F-436B-9CFD-19A2E471D36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1495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99BF5-828F-436B-9CFD-19A2E471D364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49155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99BF5-828F-436B-9CFD-19A2E471D364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9470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415882" cy="10287000"/>
            <a:chOff x="0" y="0"/>
            <a:chExt cx="63628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949439" y="-608319"/>
            <a:ext cx="11658142" cy="11775901"/>
          </a:xfrm>
          <a:custGeom>
            <a:avLst/>
            <a:gdLst/>
            <a:ahLst/>
            <a:cxnLst/>
            <a:rect l="l" t="t" r="r" b="b"/>
            <a:pathLst>
              <a:path w="11658142" h="11775901">
                <a:moveTo>
                  <a:pt x="0" y="0"/>
                </a:moveTo>
                <a:lnTo>
                  <a:pt x="11658143" y="0"/>
                </a:lnTo>
                <a:lnTo>
                  <a:pt x="11658143" y="11775901"/>
                </a:lnTo>
                <a:lnTo>
                  <a:pt x="0" y="1177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39956" y="1028700"/>
            <a:ext cx="735971" cy="710546"/>
          </a:xfrm>
          <a:custGeom>
            <a:avLst/>
            <a:gdLst/>
            <a:ahLst/>
            <a:cxnLst/>
            <a:rect l="l" t="t" r="r" b="b"/>
            <a:pathLst>
              <a:path w="735971" h="710546">
                <a:moveTo>
                  <a:pt x="0" y="0"/>
                </a:moveTo>
                <a:lnTo>
                  <a:pt x="735970" y="0"/>
                </a:lnTo>
                <a:lnTo>
                  <a:pt x="735970" y="710546"/>
                </a:lnTo>
                <a:lnTo>
                  <a:pt x="0" y="7105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320099" y="955532"/>
            <a:ext cx="11658142" cy="32195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279"/>
              </a:lnSpc>
            </a:pPr>
            <a:r>
              <a:rPr lang="en-US" sz="8448" spc="-540" dirty="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Smart Conveyor </a:t>
            </a:r>
          </a:p>
          <a:p>
            <a:pPr marL="0" lvl="0" indent="0" algn="l">
              <a:lnSpc>
                <a:spcPts val="8279"/>
              </a:lnSpc>
            </a:pPr>
            <a:r>
              <a:rPr lang="en-US" sz="8448" spc="-540" dirty="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Barcode Scanner </a:t>
            </a:r>
          </a:p>
          <a:p>
            <a:pPr marL="0" lvl="0" indent="0" algn="l">
              <a:lnSpc>
                <a:spcPts val="8279"/>
              </a:lnSpc>
            </a:pPr>
            <a:r>
              <a:rPr lang="en-US" sz="8448" spc="-540" dirty="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System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320099" y="4783656"/>
            <a:ext cx="7043101" cy="2711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967"/>
              </a:lnSpc>
            </a:pPr>
            <a:r>
              <a:rPr lang="en-US" sz="32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Sistem</a:t>
            </a:r>
            <a:r>
              <a:rPr lang="en-US" sz="32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scan </a:t>
            </a:r>
            <a:r>
              <a:rPr lang="en-US" sz="32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resi</a:t>
            </a:r>
            <a:r>
              <a:rPr lang="en-US" sz="32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logistik</a:t>
            </a:r>
            <a:r>
              <a:rPr lang="en-US" sz="32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saat</a:t>
            </a:r>
            <a:r>
              <a:rPr lang="en-US" sz="32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paket</a:t>
            </a:r>
            <a:r>
              <a:rPr lang="en-US" sz="32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berjalan</a:t>
            </a:r>
            <a:r>
              <a:rPr lang="en-US" sz="32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di </a:t>
            </a:r>
            <a:r>
              <a:rPr lang="en-US" sz="32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atas</a:t>
            </a:r>
            <a:r>
              <a:rPr lang="en-US" sz="32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konveyor</a:t>
            </a:r>
            <a:r>
              <a:rPr lang="en-US" sz="32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menggunakan</a:t>
            </a:r>
            <a:r>
              <a:rPr lang="en-US" sz="32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teknologi</a:t>
            </a:r>
            <a:r>
              <a:rPr lang="en-US" sz="32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Computer Vision </a:t>
            </a:r>
            <a:r>
              <a:rPr lang="en-US" sz="32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dengan</a:t>
            </a:r>
            <a:r>
              <a:rPr lang="en-US" sz="32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PyZbar</a:t>
            </a:r>
            <a:r>
              <a:rPr lang="en-US" sz="32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n-US" sz="3200" spc="-6" dirty="0">
              <a:solidFill>
                <a:srgbClr val="3A58E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967"/>
              </a:lnSpc>
            </a:pPr>
            <a:endParaRPr lang="en-US" sz="3200" spc="-6" dirty="0">
              <a:solidFill>
                <a:srgbClr val="3A58E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967"/>
              </a:lnSpc>
            </a:pPr>
            <a:endParaRPr lang="en-US" sz="3200" b="1" spc="-6" dirty="0">
              <a:solidFill>
                <a:srgbClr val="3A58E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967"/>
              </a:lnSpc>
            </a:pPr>
            <a:r>
              <a:rPr lang="en-US" sz="3200" b="1" spc="-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Akbar As </a:t>
            </a:r>
            <a:r>
              <a:rPr lang="en-US" sz="3200" b="1" spc="-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Syidiqi</a:t>
            </a:r>
            <a:endParaRPr lang="en-US" sz="3200" b="1" spc="-6" dirty="0">
              <a:solidFill>
                <a:srgbClr val="3A58E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50972" y="1968832"/>
            <a:ext cx="1704171" cy="267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32"/>
              </a:lnSpc>
            </a:pPr>
            <a:r>
              <a:rPr lang="en-US" sz="180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Final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60740" y="2310991"/>
            <a:ext cx="1704171" cy="342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19"/>
              </a:lnSpc>
            </a:pPr>
            <a:r>
              <a:rPr lang="en-US" sz="22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360740" y="8287049"/>
            <a:ext cx="1713939" cy="1195501"/>
            <a:chOff x="0" y="0"/>
            <a:chExt cx="2285252" cy="1594001"/>
          </a:xfrm>
        </p:grpSpPr>
        <p:sp>
          <p:nvSpPr>
            <p:cNvPr id="23" name="TextBox 23"/>
            <p:cNvSpPr txBox="1"/>
            <p:nvPr/>
          </p:nvSpPr>
          <p:spPr>
            <a:xfrm>
              <a:off x="0" y="0"/>
              <a:ext cx="2272228" cy="3300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932"/>
                </a:lnSpc>
              </a:pPr>
              <a:r>
                <a:rPr lang="en-US" sz="1805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2026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024" y="357252"/>
              <a:ext cx="2272228" cy="12367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419"/>
                </a:lnSpc>
              </a:pPr>
              <a:r>
                <a:rPr lang="en-US" sz="226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AI Engineering Batch 11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65673" y="1535380"/>
            <a:ext cx="47625" cy="2040668"/>
            <a:chOff x="0" y="0"/>
            <a:chExt cx="12543" cy="53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0"/>
            <a:ext cx="6352295" cy="10287000"/>
            <a:chOff x="0" y="0"/>
            <a:chExt cx="984137" cy="15937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84137" cy="1593725"/>
            </a:xfrm>
            <a:custGeom>
              <a:avLst/>
              <a:gdLst/>
              <a:ahLst/>
              <a:cxnLst/>
              <a:rect l="l" t="t" r="r" b="b"/>
              <a:pathLst>
                <a:path w="984137" h="1593725">
                  <a:moveTo>
                    <a:pt x="0" y="0"/>
                  </a:moveTo>
                  <a:lnTo>
                    <a:pt x="984137" y="0"/>
                  </a:lnTo>
                  <a:lnTo>
                    <a:pt x="984137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/>
              <a:stretch>
                <a:fillRect l="-4554" r="-4554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6438046" y="117435"/>
            <a:ext cx="1849954" cy="1730731"/>
            <a:chOff x="0" y="0"/>
            <a:chExt cx="2466605" cy="2307642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2466605" cy="2307642"/>
              <a:chOff x="0" y="0"/>
              <a:chExt cx="787566" cy="73681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87566" cy="73681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3681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36810"/>
                    </a:lnTo>
                    <a:lnTo>
                      <a:pt x="0" y="73681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787566" cy="7749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19164" y="684524"/>
              <a:ext cx="1828278" cy="10528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647"/>
                </a:lnSpc>
              </a:pPr>
              <a:r>
                <a:rPr lang="en-US" sz="5763" spc="-368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02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 flipH="1">
            <a:off x="6542795" y="0"/>
            <a:ext cx="0" cy="1028700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>
            <a:off x="5177017" y="5870652"/>
            <a:ext cx="2350556" cy="457290"/>
          </a:xfrm>
          <a:custGeom>
            <a:avLst/>
            <a:gdLst/>
            <a:ahLst/>
            <a:cxnLst/>
            <a:rect l="l" t="t" r="r" b="b"/>
            <a:pathLst>
              <a:path w="2350556" h="457290">
                <a:moveTo>
                  <a:pt x="0" y="0"/>
                </a:moveTo>
                <a:lnTo>
                  <a:pt x="2350556" y="0"/>
                </a:lnTo>
                <a:lnTo>
                  <a:pt x="2350556" y="457290"/>
                </a:lnTo>
                <a:lnTo>
                  <a:pt x="0" y="4572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7793739" y="1415735"/>
            <a:ext cx="5780387" cy="2489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96"/>
              </a:lnSpc>
            </a:pPr>
            <a:r>
              <a:rPr lang="en-US" sz="9792" spc="-626" dirty="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The Objective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65164" y="4686300"/>
            <a:ext cx="9063137" cy="2684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just">
              <a:lnSpc>
                <a:spcPts val="2601"/>
              </a:lnSpc>
              <a:buFont typeface="Arial" panose="020B0604020202020204" pitchFamily="34" charset="0"/>
              <a:buChar char="•"/>
            </a:pPr>
            <a:r>
              <a:rPr lang="en-US" sz="28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Otomatisasi</a:t>
            </a:r>
            <a:r>
              <a:rPr lang="en-US" sz="28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Scanning Resi Logistik di </a:t>
            </a:r>
            <a:r>
              <a:rPr lang="en-US" sz="28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Konveyor</a:t>
            </a:r>
            <a:endParaRPr lang="en-US" sz="2800" spc="-5" dirty="0">
              <a:solidFill>
                <a:srgbClr val="3A58E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 algn="just">
              <a:lnSpc>
                <a:spcPts val="2601"/>
              </a:lnSpc>
              <a:buFont typeface="Arial" panose="020B0604020202020204" pitchFamily="34" charset="0"/>
              <a:buChar char="•"/>
            </a:pPr>
            <a:endParaRPr lang="en-US" sz="2800" spc="-5" dirty="0">
              <a:solidFill>
                <a:srgbClr val="3A58E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 algn="just">
              <a:lnSpc>
                <a:spcPts val="2601"/>
              </a:lnSpc>
              <a:buFont typeface="Arial" panose="020B0604020202020204" pitchFamily="34" charset="0"/>
              <a:buChar char="•"/>
            </a:pPr>
            <a:r>
              <a:rPr lang="en-US" sz="28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Meningkatkan</a:t>
            </a:r>
            <a:r>
              <a:rPr lang="en-US" sz="28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jumlah</a:t>
            </a:r>
            <a:r>
              <a:rPr lang="en-US" sz="28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resi</a:t>
            </a:r>
            <a:r>
              <a:rPr lang="en-US" sz="28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yang di scan </a:t>
            </a:r>
            <a:r>
              <a:rPr lang="en-US" sz="28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dalam</a:t>
            </a:r>
            <a:r>
              <a:rPr lang="en-US" sz="28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waktu</a:t>
            </a:r>
            <a:r>
              <a:rPr lang="en-US" sz="28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tertentu</a:t>
            </a:r>
            <a:endParaRPr lang="en-US" sz="2800" spc="-5" dirty="0">
              <a:solidFill>
                <a:srgbClr val="3A58E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 algn="just">
              <a:lnSpc>
                <a:spcPts val="2601"/>
              </a:lnSpc>
              <a:buFont typeface="Arial" panose="020B0604020202020204" pitchFamily="34" charset="0"/>
              <a:buChar char="•"/>
            </a:pPr>
            <a:endParaRPr lang="en-US" sz="2800" spc="-5" dirty="0">
              <a:solidFill>
                <a:srgbClr val="3A58E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 algn="just">
              <a:lnSpc>
                <a:spcPts val="2601"/>
              </a:lnSpc>
              <a:buFont typeface="Arial" panose="020B0604020202020204" pitchFamily="34" charset="0"/>
              <a:buChar char="•"/>
            </a:pPr>
            <a:r>
              <a:rPr lang="en-US" sz="28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Mengurangi</a:t>
            </a:r>
            <a:r>
              <a:rPr lang="en-US" sz="28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Beban </a:t>
            </a:r>
            <a:r>
              <a:rPr lang="en-US" sz="28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Kerja</a:t>
            </a:r>
            <a:r>
              <a:rPr lang="en-US" sz="28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Admin Gudang</a:t>
            </a:r>
          </a:p>
          <a:p>
            <a:pPr marL="342900" lvl="0" indent="-342900" algn="just">
              <a:lnSpc>
                <a:spcPts val="2601"/>
              </a:lnSpc>
              <a:buFont typeface="Arial" panose="020B0604020202020204" pitchFamily="34" charset="0"/>
              <a:buChar char="•"/>
            </a:pPr>
            <a:endParaRPr lang="en-US" sz="2800" spc="-5" dirty="0">
              <a:solidFill>
                <a:srgbClr val="3A58E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 algn="just">
              <a:lnSpc>
                <a:spcPts val="2601"/>
              </a:lnSpc>
              <a:buFont typeface="Arial" panose="020B0604020202020204" pitchFamily="34" charset="0"/>
              <a:buChar char="•"/>
            </a:pPr>
            <a:r>
              <a:rPr lang="en-US" sz="28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Menghitung</a:t>
            </a:r>
            <a:r>
              <a:rPr lang="en-US" sz="28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Total Paket &amp; </a:t>
            </a:r>
            <a:r>
              <a:rPr lang="en-US" sz="28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Mencatat</a:t>
            </a:r>
            <a:r>
              <a:rPr lang="en-US" sz="28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Semua</a:t>
            </a:r>
            <a:r>
              <a:rPr lang="en-US" sz="28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Resi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38046" y="94549"/>
            <a:ext cx="1849954" cy="1753617"/>
            <a:chOff x="0" y="0"/>
            <a:chExt cx="2466605" cy="2338156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66605" cy="2338156"/>
              <a:chOff x="0" y="0"/>
              <a:chExt cx="787566" cy="74655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7566" cy="746553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46553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46553"/>
                    </a:lnTo>
                    <a:lnTo>
                      <a:pt x="0" y="74655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787566" cy="7846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319164" y="684524"/>
              <a:ext cx="1828278" cy="1083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782"/>
                </a:lnSpc>
              </a:pPr>
              <a:r>
                <a:rPr lang="en-US" sz="5900" spc="-377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536445" y="2779355"/>
            <a:ext cx="7215109" cy="379246"/>
            <a:chOff x="0" y="0"/>
            <a:chExt cx="9620146" cy="505662"/>
          </a:xfrm>
        </p:grpSpPr>
        <p:sp>
          <p:nvSpPr>
            <p:cNvPr id="8" name="TextBox 8"/>
            <p:cNvSpPr txBox="1"/>
            <p:nvPr/>
          </p:nvSpPr>
          <p:spPr>
            <a:xfrm>
              <a:off x="0" y="25449"/>
              <a:ext cx="9403826" cy="480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86"/>
                </a:lnSpc>
              </a:pPr>
              <a:r>
                <a:rPr lang="en-US" sz="2132" b="1" spc="-53" dirty="0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PIPELINE DETEKSI DAN DECODING BARCODE OTOMATIS</a:t>
              </a:r>
            </a:p>
          </p:txBody>
        </p:sp>
        <p:sp>
          <p:nvSpPr>
            <p:cNvPr id="9" name="Freeform 9"/>
            <p:cNvSpPr/>
            <p:nvPr/>
          </p:nvSpPr>
          <p:spPr>
            <a:xfrm rot="-8687136">
              <a:off x="9303126" y="44820"/>
              <a:ext cx="252200" cy="304858"/>
            </a:xfrm>
            <a:custGeom>
              <a:avLst/>
              <a:gdLst/>
              <a:ahLst/>
              <a:cxnLst/>
              <a:rect l="l" t="t" r="r" b="b"/>
              <a:pathLst>
                <a:path w="252200" h="304858">
                  <a:moveTo>
                    <a:pt x="0" y="0"/>
                  </a:moveTo>
                  <a:lnTo>
                    <a:pt x="252200" y="0"/>
                  </a:lnTo>
                  <a:lnTo>
                    <a:pt x="252200" y="304857"/>
                  </a:lnTo>
                  <a:lnTo>
                    <a:pt x="0" y="30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3363658" y="1247968"/>
            <a:ext cx="11560683" cy="127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96"/>
              </a:lnSpc>
            </a:pPr>
            <a:r>
              <a:rPr lang="en-US" sz="9792" spc="-626" dirty="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Overview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267200" y="3771900"/>
            <a:ext cx="3213033" cy="5379569"/>
            <a:chOff x="0" y="0"/>
            <a:chExt cx="1387961" cy="232385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87961" cy="2323857"/>
            </a:xfrm>
            <a:custGeom>
              <a:avLst/>
              <a:gdLst/>
              <a:ahLst/>
              <a:cxnLst/>
              <a:rect l="l" t="t" r="r" b="b"/>
              <a:pathLst>
                <a:path w="1387961" h="2323857">
                  <a:moveTo>
                    <a:pt x="0" y="0"/>
                  </a:moveTo>
                  <a:lnTo>
                    <a:pt x="1387961" y="0"/>
                  </a:lnTo>
                  <a:lnTo>
                    <a:pt x="1387961" y="2323857"/>
                  </a:lnTo>
                  <a:lnTo>
                    <a:pt x="0" y="2323857"/>
                  </a:lnTo>
                  <a:close/>
                </a:path>
              </a:pathLst>
            </a:custGeom>
            <a:solidFill>
              <a:srgbClr val="2B42A8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87961" cy="2361957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471316" y="3771900"/>
            <a:ext cx="3213033" cy="5379569"/>
            <a:chOff x="0" y="0"/>
            <a:chExt cx="1387961" cy="232385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87961" cy="2323857"/>
            </a:xfrm>
            <a:custGeom>
              <a:avLst/>
              <a:gdLst/>
              <a:ahLst/>
              <a:cxnLst/>
              <a:rect l="l" t="t" r="r" b="b"/>
              <a:pathLst>
                <a:path w="1387961" h="2323857">
                  <a:moveTo>
                    <a:pt x="0" y="0"/>
                  </a:moveTo>
                  <a:lnTo>
                    <a:pt x="1387961" y="0"/>
                  </a:lnTo>
                  <a:lnTo>
                    <a:pt x="1387961" y="2323857"/>
                  </a:lnTo>
                  <a:lnTo>
                    <a:pt x="0" y="2323857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387961" cy="2361957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675431" y="3771900"/>
            <a:ext cx="3213033" cy="5379569"/>
            <a:chOff x="0" y="0"/>
            <a:chExt cx="1387961" cy="232385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87961" cy="2323857"/>
            </a:xfrm>
            <a:custGeom>
              <a:avLst/>
              <a:gdLst/>
              <a:ahLst/>
              <a:cxnLst/>
              <a:rect l="l" t="t" r="r" b="b"/>
              <a:pathLst>
                <a:path w="1387961" h="2323857">
                  <a:moveTo>
                    <a:pt x="0" y="0"/>
                  </a:moveTo>
                  <a:lnTo>
                    <a:pt x="1387961" y="0"/>
                  </a:lnTo>
                  <a:lnTo>
                    <a:pt x="1387961" y="2323857"/>
                  </a:lnTo>
                  <a:lnTo>
                    <a:pt x="0" y="2323857"/>
                  </a:lnTo>
                  <a:close/>
                </a:path>
              </a:pathLst>
            </a:custGeom>
            <a:solidFill>
              <a:srgbClr val="6984FE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387961" cy="2361957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5400000">
            <a:off x="4131635" y="7673574"/>
            <a:ext cx="622999" cy="351870"/>
            <a:chOff x="0" y="0"/>
            <a:chExt cx="1387983" cy="78403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AFBE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 rot="5400000">
            <a:off x="7316701" y="4897925"/>
            <a:ext cx="622999" cy="351870"/>
            <a:chOff x="0" y="0"/>
            <a:chExt cx="1387983" cy="78403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2B42A8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 rot="5400000">
            <a:off x="10520817" y="7673574"/>
            <a:ext cx="622999" cy="351870"/>
            <a:chOff x="0" y="0"/>
            <a:chExt cx="1387983" cy="78403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 rot="5400000">
            <a:off x="13715408" y="4897925"/>
            <a:ext cx="622999" cy="351870"/>
            <a:chOff x="0" y="0"/>
            <a:chExt cx="1387983" cy="78403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6984FE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805754" y="4550513"/>
            <a:ext cx="2135924" cy="1680375"/>
            <a:chOff x="0" y="-19050"/>
            <a:chExt cx="2847898" cy="2240501"/>
          </a:xfrm>
        </p:grpSpPr>
        <p:sp>
          <p:nvSpPr>
            <p:cNvPr id="36" name="TextBox 36"/>
            <p:cNvSpPr txBox="1"/>
            <p:nvPr/>
          </p:nvSpPr>
          <p:spPr>
            <a:xfrm>
              <a:off x="0" y="-19050"/>
              <a:ext cx="2847898" cy="3296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algn="just">
                <a:lnSpc>
                  <a:spcPts val="1971"/>
                </a:lnSpc>
              </a:pPr>
              <a:r>
                <a:rPr lang="en-US" sz="1528" b="1" spc="-4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CROPPING &amp; OTSU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934004"/>
              <a:ext cx="2847898" cy="12874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1864"/>
                </a:lnSpc>
              </a:pP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Crop area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paket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, Otsu's Thresholding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tingkatkan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kontras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barcode.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6006452" y="7412141"/>
            <a:ext cx="1445813" cy="142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537"/>
              </a:lnSpc>
            </a:pPr>
            <a:r>
              <a:rPr lang="en-US" sz="8944" spc="-2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01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8009870" y="7104605"/>
            <a:ext cx="2135924" cy="1432725"/>
            <a:chOff x="0" y="-19050"/>
            <a:chExt cx="2847898" cy="1910301"/>
          </a:xfrm>
        </p:grpSpPr>
        <p:sp>
          <p:nvSpPr>
            <p:cNvPr id="40" name="TextBox 40"/>
            <p:cNvSpPr txBox="1"/>
            <p:nvPr/>
          </p:nvSpPr>
          <p:spPr>
            <a:xfrm>
              <a:off x="0" y="-19050"/>
              <a:ext cx="2847898" cy="6716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algn="just">
                <a:lnSpc>
                  <a:spcPts val="1971"/>
                </a:lnSpc>
              </a:pPr>
              <a:r>
                <a:rPr lang="en-US" sz="1528" b="1" spc="-4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PYZBAR</a:t>
              </a:r>
            </a:p>
            <a:p>
              <a:pPr lvl="0" algn="just">
                <a:lnSpc>
                  <a:spcPts val="1971"/>
                </a:lnSpc>
              </a:pPr>
              <a:r>
                <a:rPr lang="en-US" sz="1528" b="1" spc="-4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DECODING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603804"/>
              <a:ext cx="2847898" cy="12874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1864"/>
                </a:lnSpc>
              </a:pP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"Mata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pembaca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"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untuk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decode barcode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dari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gambar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yang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telah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diproses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8961688" y="3963898"/>
            <a:ext cx="1578549" cy="142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537"/>
              </a:lnSpc>
            </a:pPr>
            <a:r>
              <a:rPr lang="en-US" sz="8944" spc="-2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02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11217802" y="4550513"/>
            <a:ext cx="2135924" cy="1680375"/>
            <a:chOff x="0" y="-19050"/>
            <a:chExt cx="2847898" cy="2240501"/>
          </a:xfrm>
        </p:grpSpPr>
        <p:sp>
          <p:nvSpPr>
            <p:cNvPr id="44" name="TextBox 44"/>
            <p:cNvSpPr txBox="1"/>
            <p:nvPr/>
          </p:nvSpPr>
          <p:spPr>
            <a:xfrm>
              <a:off x="0" y="-19050"/>
              <a:ext cx="2847898" cy="6716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algn="just">
                <a:lnSpc>
                  <a:spcPts val="1971"/>
                </a:lnSpc>
              </a:pPr>
              <a:r>
                <a:rPr lang="en-US" sz="1528" b="1" spc="-4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SQLITE</a:t>
              </a:r>
            </a:p>
            <a:p>
              <a:pPr lvl="0" algn="just">
                <a:lnSpc>
                  <a:spcPts val="1971"/>
                </a:lnSpc>
              </a:pPr>
              <a:r>
                <a:rPr lang="en-US" sz="1528" b="1" spc="-4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VALIDATION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934004"/>
              <a:ext cx="2847898" cy="12874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1864"/>
                </a:lnSpc>
              </a:pP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Validasi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otomatis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dengan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unique constraint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cegah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duplikasi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data.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2153028" y="7412141"/>
            <a:ext cx="1711285" cy="142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537"/>
              </a:lnSpc>
            </a:pPr>
            <a:r>
              <a:rPr lang="en-US" sz="8944" spc="-2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03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2886027" y="6963786"/>
            <a:ext cx="2135924" cy="1680375"/>
            <a:chOff x="0" y="-19050"/>
            <a:chExt cx="2847898" cy="2240501"/>
          </a:xfrm>
        </p:grpSpPr>
        <p:sp>
          <p:nvSpPr>
            <p:cNvPr id="48" name="TextBox 48"/>
            <p:cNvSpPr txBox="1"/>
            <p:nvPr/>
          </p:nvSpPr>
          <p:spPr>
            <a:xfrm>
              <a:off x="0" y="-19050"/>
              <a:ext cx="2847898" cy="6561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1971"/>
                </a:lnSpc>
              </a:pPr>
              <a:r>
                <a:rPr lang="en-US" sz="1528" b="1" spc="-4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SQLITE</a:t>
              </a:r>
            </a:p>
            <a:p>
              <a:pPr marL="0" lvl="0" indent="0" algn="just">
                <a:lnSpc>
                  <a:spcPts val="1971"/>
                </a:lnSpc>
              </a:pPr>
              <a:r>
                <a:rPr lang="en-US" sz="1528" b="1" spc="-4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VALIDATION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934004"/>
              <a:ext cx="2847898" cy="12874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1864"/>
                </a:lnSpc>
              </a:pP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Validasi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otomatis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dengan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unique constraint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cegah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duplikasi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data.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3837845" y="4070729"/>
            <a:ext cx="1578549" cy="142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537"/>
              </a:lnSpc>
            </a:pPr>
            <a:r>
              <a:rPr lang="en-US" sz="8944" spc="-2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938179" cy="10287000"/>
            <a:chOff x="0" y="0"/>
            <a:chExt cx="182733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7339" cy="2709333"/>
            </a:xfrm>
            <a:custGeom>
              <a:avLst/>
              <a:gdLst/>
              <a:ahLst/>
              <a:cxnLst/>
              <a:rect l="l" t="t" r="r" b="b"/>
              <a:pathLst>
                <a:path w="1827339" h="2709333">
                  <a:moveTo>
                    <a:pt x="0" y="0"/>
                  </a:moveTo>
                  <a:lnTo>
                    <a:pt x="1827339" y="0"/>
                  </a:lnTo>
                  <a:lnTo>
                    <a:pt x="182733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27339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343219" y="4032536"/>
            <a:ext cx="3189919" cy="620584"/>
          </a:xfrm>
          <a:custGeom>
            <a:avLst/>
            <a:gdLst/>
            <a:ahLst/>
            <a:cxnLst/>
            <a:rect l="l" t="t" r="r" b="b"/>
            <a:pathLst>
              <a:path w="3189919" h="620584">
                <a:moveTo>
                  <a:pt x="0" y="0"/>
                </a:moveTo>
                <a:lnTo>
                  <a:pt x="3189919" y="0"/>
                </a:lnTo>
                <a:lnTo>
                  <a:pt x="3189919" y="620584"/>
                </a:lnTo>
                <a:lnTo>
                  <a:pt x="0" y="620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5771854" y="7481758"/>
            <a:ext cx="2750398" cy="2371782"/>
            <a:chOff x="0" y="0"/>
            <a:chExt cx="567580" cy="5668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67580" cy="566868"/>
            </a:xfrm>
            <a:custGeom>
              <a:avLst/>
              <a:gdLst/>
              <a:ahLst/>
              <a:cxnLst/>
              <a:rect l="l" t="t" r="r" b="b"/>
              <a:pathLst>
                <a:path w="567580" h="566868">
                  <a:moveTo>
                    <a:pt x="119291" y="0"/>
                  </a:moveTo>
                  <a:lnTo>
                    <a:pt x="448289" y="0"/>
                  </a:lnTo>
                  <a:cubicBezTo>
                    <a:pt x="514171" y="0"/>
                    <a:pt x="567580" y="53408"/>
                    <a:pt x="567580" y="119291"/>
                  </a:cubicBezTo>
                  <a:lnTo>
                    <a:pt x="567580" y="447578"/>
                  </a:lnTo>
                  <a:cubicBezTo>
                    <a:pt x="567580" y="479216"/>
                    <a:pt x="555012" y="509558"/>
                    <a:pt x="532640" y="531929"/>
                  </a:cubicBezTo>
                  <a:cubicBezTo>
                    <a:pt x="510269" y="554300"/>
                    <a:pt x="479927" y="566868"/>
                    <a:pt x="448289" y="566868"/>
                  </a:cubicBezTo>
                  <a:lnTo>
                    <a:pt x="119291" y="566868"/>
                  </a:lnTo>
                  <a:cubicBezTo>
                    <a:pt x="87653" y="566868"/>
                    <a:pt x="57311" y="554300"/>
                    <a:pt x="34939" y="531929"/>
                  </a:cubicBezTo>
                  <a:cubicBezTo>
                    <a:pt x="12568" y="509558"/>
                    <a:pt x="0" y="479216"/>
                    <a:pt x="0" y="447578"/>
                  </a:cubicBezTo>
                  <a:lnTo>
                    <a:pt x="0" y="119291"/>
                  </a:lnTo>
                  <a:cubicBezTo>
                    <a:pt x="0" y="53408"/>
                    <a:pt x="53408" y="0"/>
                    <a:pt x="1192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567580" cy="538293"/>
            </a:xfrm>
            <a:prstGeom prst="rect">
              <a:avLst/>
            </a:prstGeom>
          </p:spPr>
          <p:txBody>
            <a:bodyPr lIns="65745" tIns="65745" rIns="65745" bIns="65745" rtlCol="0" anchor="ctr"/>
            <a:lstStyle/>
            <a:p>
              <a:pPr marL="0" lvl="0" indent="0" algn="ctr">
                <a:lnSpc>
                  <a:spcPts val="246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926895" y="7912025"/>
            <a:ext cx="2459408" cy="807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24"/>
              </a:lnSpc>
            </a:pPr>
            <a:r>
              <a:rPr lang="en-US" sz="6085" b="1" spc="-182" dirty="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100%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14972" y="8791937"/>
            <a:ext cx="1957200" cy="542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46"/>
              </a:lnSpc>
            </a:pPr>
            <a:r>
              <a:rPr lang="en-US" sz="1533" spc="-3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AKURASI PEMBACAAN BARCODE</a:t>
            </a:r>
          </a:p>
        </p:txBody>
      </p:sp>
      <p:sp>
        <p:nvSpPr>
          <p:cNvPr id="11" name="Freeform 11"/>
          <p:cNvSpPr/>
          <p:nvPr/>
        </p:nvSpPr>
        <p:spPr>
          <a:xfrm>
            <a:off x="958765" y="4027384"/>
            <a:ext cx="1073928" cy="1031350"/>
          </a:xfrm>
          <a:custGeom>
            <a:avLst/>
            <a:gdLst/>
            <a:ahLst/>
            <a:cxnLst/>
            <a:rect l="l" t="t" r="r" b="b"/>
            <a:pathLst>
              <a:path w="1073928" h="1031350">
                <a:moveTo>
                  <a:pt x="0" y="0"/>
                </a:moveTo>
                <a:lnTo>
                  <a:pt x="1073928" y="0"/>
                </a:lnTo>
                <a:lnTo>
                  <a:pt x="1073928" y="1031350"/>
                </a:lnTo>
                <a:lnTo>
                  <a:pt x="0" y="1031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019588" y="5696277"/>
            <a:ext cx="4378886" cy="926230"/>
            <a:chOff x="-12149" y="-2043862"/>
            <a:chExt cx="5838515" cy="1234974"/>
          </a:xfrm>
        </p:grpSpPr>
        <p:sp>
          <p:nvSpPr>
            <p:cNvPr id="15" name="TextBox 15"/>
            <p:cNvSpPr txBox="1"/>
            <p:nvPr/>
          </p:nvSpPr>
          <p:spPr>
            <a:xfrm>
              <a:off x="-12149" y="-2043862"/>
              <a:ext cx="5838515" cy="4825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62"/>
                </a:lnSpc>
              </a:pPr>
              <a:r>
                <a:rPr lang="en-US" sz="1602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PYZBAR READ RATE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-12149" y="-1371623"/>
              <a:ext cx="5838515" cy="5627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1663"/>
                </a:lnSpc>
              </a:pPr>
              <a:r>
                <a:rPr lang="en-US" sz="1363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Tingkat </a:t>
              </a:r>
              <a:r>
                <a:rPr lang="en-US" sz="1363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keberhasilan</a:t>
              </a:r>
              <a:r>
                <a:rPr lang="en-US" sz="1363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363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pembacaan</a:t>
              </a:r>
              <a:r>
                <a:rPr lang="en-US" sz="1363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barcode </a:t>
              </a:r>
              <a:r>
                <a:rPr lang="en-US" sz="1363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dalam</a:t>
              </a:r>
              <a:r>
                <a:rPr lang="en-US" sz="1363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363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kondisi</a:t>
              </a:r>
              <a:r>
                <a:rPr lang="en-US" sz="1363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363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gambar</a:t>
              </a:r>
              <a:r>
                <a:rPr lang="en-US" sz="1363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363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bergerak</a:t>
              </a:r>
              <a:r>
                <a:rPr lang="en-US" sz="1363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19588" y="6847516"/>
            <a:ext cx="4378886" cy="719537"/>
            <a:chOff x="0" y="0"/>
            <a:chExt cx="5838515" cy="959383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161925"/>
              <a:ext cx="5838515" cy="4825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62"/>
                </a:lnSpc>
              </a:pPr>
              <a:r>
                <a:rPr lang="en-US" sz="1602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VALIDASI SQLITE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396648"/>
              <a:ext cx="5838515" cy="5627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1663"/>
                </a:lnSpc>
              </a:pPr>
              <a:r>
                <a:rPr lang="en-US" sz="1363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Unique constraint </a:t>
              </a:r>
              <a:r>
                <a:rPr lang="en-US" sz="1363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mencegah</a:t>
              </a:r>
              <a:r>
                <a:rPr lang="en-US" sz="1363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363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duplikasi</a:t>
              </a:r>
              <a:r>
                <a:rPr lang="en-US" sz="1363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data </a:t>
              </a:r>
              <a:r>
                <a:rPr lang="en-US" sz="1363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resi</a:t>
              </a:r>
              <a:r>
                <a:rPr lang="en-US" sz="1363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363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secara</a:t>
              </a:r>
              <a:r>
                <a:rPr lang="en-US" sz="1363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363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otomatis</a:t>
              </a:r>
              <a:r>
                <a:rPr lang="en-US" sz="1363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427894" y="4462254"/>
            <a:ext cx="9831406" cy="2400777"/>
            <a:chOff x="1033544" y="7027419"/>
            <a:chExt cx="8996329" cy="2486640"/>
          </a:xfrm>
        </p:grpSpPr>
        <p:sp>
          <p:nvSpPr>
            <p:cNvPr id="25" name="TextBox 25"/>
            <p:cNvSpPr txBox="1"/>
            <p:nvPr/>
          </p:nvSpPr>
          <p:spPr>
            <a:xfrm>
              <a:off x="1033544" y="7027419"/>
              <a:ext cx="7126880" cy="3432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391"/>
                </a:lnSpc>
              </a:pPr>
              <a:r>
                <a:rPr lang="en-US" sz="2800" b="1" spc="-42" dirty="0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KESIMPULAN PERBANDINGAN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3544" y="7846818"/>
              <a:ext cx="8996329" cy="16672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ct val="150000"/>
                </a:lnSpc>
              </a:pPr>
              <a:r>
                <a:rPr lang="en-US" sz="2400" dirty="0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Scan via </a:t>
              </a:r>
              <a:r>
                <a:rPr lang="en-US" sz="2400" dirty="0" err="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rekaman</a:t>
              </a:r>
              <a:r>
                <a:rPr lang="en-US" sz="2400" dirty="0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 video </a:t>
              </a:r>
              <a:r>
                <a:rPr lang="en-US" sz="2400" dirty="0" err="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memberikan</a:t>
              </a:r>
              <a:r>
                <a:rPr lang="en-US" sz="2400" dirty="0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performa</a:t>
              </a:r>
              <a:r>
                <a:rPr lang="en-US" sz="2400" dirty="0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 throughput 3.5x </a:t>
              </a:r>
              <a:r>
                <a:rPr lang="en-US" sz="2400" dirty="0" err="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lebih</a:t>
              </a:r>
              <a:r>
                <a:rPr lang="en-US" sz="2400" dirty="0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cepat</a:t>
              </a:r>
              <a:r>
                <a:rPr lang="en-US" sz="2400" dirty="0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 disbanding </a:t>
              </a:r>
              <a:r>
                <a:rPr lang="en-US" sz="2400" dirty="0" err="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lewat</a:t>
              </a:r>
              <a:r>
                <a:rPr lang="en-US" sz="2400" dirty="0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url</a:t>
              </a:r>
              <a:r>
                <a:rPr lang="en-US" sz="2400" dirty="0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 stream. </a:t>
              </a:r>
              <a:r>
                <a:rPr lang="en-US" sz="2400" dirty="0" err="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Akurasi</a:t>
              </a:r>
              <a:r>
                <a:rPr lang="en-US" sz="2400" dirty="0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pembacaan</a:t>
              </a:r>
              <a:r>
                <a:rPr lang="en-US" sz="2400" dirty="0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 barcode </a:t>
              </a:r>
              <a:r>
                <a:rPr lang="en-US" sz="2400" dirty="0" err="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tetap</a:t>
              </a:r>
              <a:r>
                <a:rPr lang="en-US" sz="2400" dirty="0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konsisten</a:t>
              </a:r>
              <a:r>
                <a:rPr lang="en-US" sz="2400" dirty="0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 100% </a:t>
              </a:r>
              <a:r>
                <a:rPr lang="en-US" sz="2400" dirty="0" err="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dengan</a:t>
              </a:r>
              <a:r>
                <a:rPr lang="en-US" sz="2400" dirty="0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jarak</a:t>
              </a:r>
              <a:r>
                <a:rPr lang="en-US" sz="2400" dirty="0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 optimal 20-30 cm.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28700" y="1196251"/>
            <a:ext cx="24226" cy="1038034"/>
            <a:chOff x="0" y="0"/>
            <a:chExt cx="12543" cy="53746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44711" y="1358622"/>
            <a:ext cx="2753109" cy="1043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86"/>
              </a:lnSpc>
            </a:pPr>
            <a:r>
              <a:rPr lang="en-US" sz="4067" spc="-26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Metrik Keberhasilan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43E945C7-77FE-FD64-C77E-3C57A286F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190043"/>
              </p:ext>
            </p:extLst>
          </p:nvPr>
        </p:nvGraphicFramePr>
        <p:xfrm>
          <a:off x="7427894" y="943336"/>
          <a:ext cx="10707705" cy="1843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733">
                  <a:extLst>
                    <a:ext uri="{9D8B030D-6E8A-4147-A177-3AD203B41FA5}">
                      <a16:colId xmlns:a16="http://schemas.microsoft.com/office/drawing/2014/main" val="433508408"/>
                    </a:ext>
                  </a:extLst>
                </a:gridCol>
                <a:gridCol w="1087501">
                  <a:extLst>
                    <a:ext uri="{9D8B030D-6E8A-4147-A177-3AD203B41FA5}">
                      <a16:colId xmlns:a16="http://schemas.microsoft.com/office/drawing/2014/main" val="3885363294"/>
                    </a:ext>
                  </a:extLst>
                </a:gridCol>
                <a:gridCol w="1589425">
                  <a:extLst>
                    <a:ext uri="{9D8B030D-6E8A-4147-A177-3AD203B41FA5}">
                      <a16:colId xmlns:a16="http://schemas.microsoft.com/office/drawing/2014/main" val="3832058626"/>
                    </a:ext>
                  </a:extLst>
                </a:gridCol>
                <a:gridCol w="1003847">
                  <a:extLst>
                    <a:ext uri="{9D8B030D-6E8A-4147-A177-3AD203B41FA5}">
                      <a16:colId xmlns:a16="http://schemas.microsoft.com/office/drawing/2014/main" val="1700026925"/>
                    </a:ext>
                  </a:extLst>
                </a:gridCol>
                <a:gridCol w="2844234">
                  <a:extLst>
                    <a:ext uri="{9D8B030D-6E8A-4147-A177-3AD203B41FA5}">
                      <a16:colId xmlns:a16="http://schemas.microsoft.com/office/drawing/2014/main" val="2057824790"/>
                    </a:ext>
                  </a:extLst>
                </a:gridCol>
                <a:gridCol w="2425965">
                  <a:extLst>
                    <a:ext uri="{9D8B030D-6E8A-4147-A177-3AD203B41FA5}">
                      <a16:colId xmlns:a16="http://schemas.microsoft.com/office/drawing/2014/main" val="1309332556"/>
                    </a:ext>
                  </a:extLst>
                </a:gridCol>
              </a:tblGrid>
              <a:tr h="74576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Mode Scan</a:t>
                      </a:r>
                      <a:endParaRPr lang="en-ID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FPS</a:t>
                      </a:r>
                      <a:endParaRPr lang="en-ID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Jarak Kamera</a:t>
                      </a:r>
                      <a:endParaRPr lang="en-ID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Akurasi</a:t>
                      </a:r>
                      <a:endParaRPr lang="en-ID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Throughput</a:t>
                      </a:r>
                      <a:endParaRPr lang="en-ID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Keberhasilan</a:t>
                      </a:r>
                      <a:r>
                        <a:rPr lang="en-US" sz="2000" dirty="0"/>
                        <a:t> Scan</a:t>
                      </a:r>
                      <a:endParaRPr lang="en-ID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9112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Via Video 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6-100 fps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100%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Scan 7 </a:t>
                      </a:r>
                      <a:r>
                        <a:rPr lang="en-US" sz="2000" dirty="0" err="1"/>
                        <a:t>paket</a:t>
                      </a:r>
                      <a:r>
                        <a:rPr lang="en-US" sz="2000" dirty="0"/>
                        <a:t> per 4 </a:t>
                      </a:r>
                      <a:r>
                        <a:rPr lang="en-US" sz="2000" dirty="0" err="1"/>
                        <a:t>detik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7/7 Paket (100%)</a:t>
                      </a:r>
                      <a:endParaRPr lang="en-ID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787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URL Stream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3-50 fps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30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100%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Scan 6 </a:t>
                      </a:r>
                      <a:r>
                        <a:rPr lang="en-US" sz="2000" dirty="0" err="1"/>
                        <a:t>paket</a:t>
                      </a:r>
                      <a:r>
                        <a:rPr lang="en-US" sz="2000" dirty="0"/>
                        <a:t> per 10 </a:t>
                      </a:r>
                      <a:r>
                        <a:rPr lang="en-US" sz="2000" dirty="0" err="1"/>
                        <a:t>detik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6/6 Paket (100%)</a:t>
                      </a:r>
                      <a:endParaRPr lang="en-ID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1734484"/>
                  </a:ext>
                </a:extLst>
              </a:tr>
            </a:tbl>
          </a:graphicData>
        </a:graphic>
      </p:graphicFrame>
      <p:grpSp>
        <p:nvGrpSpPr>
          <p:cNvPr id="37" name="Group 6">
            <a:extLst>
              <a:ext uri="{FF2B5EF4-FFF2-40B4-BE49-F238E27FC236}">
                <a16:creationId xmlns:a16="http://schemas.microsoft.com/office/drawing/2014/main" id="{A061D249-D8D0-FD64-696C-0B70B26693B8}"/>
              </a:ext>
            </a:extLst>
          </p:cNvPr>
          <p:cNvGrpSpPr/>
          <p:nvPr/>
        </p:nvGrpSpPr>
        <p:grpSpPr>
          <a:xfrm>
            <a:off x="9144000" y="7496118"/>
            <a:ext cx="2750398" cy="2371782"/>
            <a:chOff x="0" y="0"/>
            <a:chExt cx="567580" cy="566868"/>
          </a:xfrm>
        </p:grpSpPr>
        <p:sp>
          <p:nvSpPr>
            <p:cNvPr id="38" name="Freeform 7">
              <a:extLst>
                <a:ext uri="{FF2B5EF4-FFF2-40B4-BE49-F238E27FC236}">
                  <a16:creationId xmlns:a16="http://schemas.microsoft.com/office/drawing/2014/main" id="{FC98DF40-2DF7-8E6F-B8EF-A00BD2344AB7}"/>
                </a:ext>
              </a:extLst>
            </p:cNvPr>
            <p:cNvSpPr/>
            <p:nvPr/>
          </p:nvSpPr>
          <p:spPr>
            <a:xfrm>
              <a:off x="0" y="0"/>
              <a:ext cx="567580" cy="566868"/>
            </a:xfrm>
            <a:custGeom>
              <a:avLst/>
              <a:gdLst/>
              <a:ahLst/>
              <a:cxnLst/>
              <a:rect l="l" t="t" r="r" b="b"/>
              <a:pathLst>
                <a:path w="567580" h="566868">
                  <a:moveTo>
                    <a:pt x="119291" y="0"/>
                  </a:moveTo>
                  <a:lnTo>
                    <a:pt x="448289" y="0"/>
                  </a:lnTo>
                  <a:cubicBezTo>
                    <a:pt x="514171" y="0"/>
                    <a:pt x="567580" y="53408"/>
                    <a:pt x="567580" y="119291"/>
                  </a:cubicBezTo>
                  <a:lnTo>
                    <a:pt x="567580" y="447578"/>
                  </a:lnTo>
                  <a:cubicBezTo>
                    <a:pt x="567580" y="479216"/>
                    <a:pt x="555012" y="509558"/>
                    <a:pt x="532640" y="531929"/>
                  </a:cubicBezTo>
                  <a:cubicBezTo>
                    <a:pt x="510269" y="554300"/>
                    <a:pt x="479927" y="566868"/>
                    <a:pt x="448289" y="566868"/>
                  </a:cubicBezTo>
                  <a:lnTo>
                    <a:pt x="119291" y="566868"/>
                  </a:lnTo>
                  <a:cubicBezTo>
                    <a:pt x="87653" y="566868"/>
                    <a:pt x="57311" y="554300"/>
                    <a:pt x="34939" y="531929"/>
                  </a:cubicBezTo>
                  <a:cubicBezTo>
                    <a:pt x="12568" y="509558"/>
                    <a:pt x="0" y="479216"/>
                    <a:pt x="0" y="447578"/>
                  </a:cubicBezTo>
                  <a:lnTo>
                    <a:pt x="0" y="119291"/>
                  </a:lnTo>
                  <a:cubicBezTo>
                    <a:pt x="0" y="53408"/>
                    <a:pt x="53408" y="0"/>
                    <a:pt x="1192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39" name="TextBox 8">
              <a:extLst>
                <a:ext uri="{FF2B5EF4-FFF2-40B4-BE49-F238E27FC236}">
                  <a16:creationId xmlns:a16="http://schemas.microsoft.com/office/drawing/2014/main" id="{E91561FD-C0DD-CF52-AFE7-82E917CB280F}"/>
                </a:ext>
              </a:extLst>
            </p:cNvPr>
            <p:cNvSpPr txBox="1"/>
            <p:nvPr/>
          </p:nvSpPr>
          <p:spPr>
            <a:xfrm>
              <a:off x="0" y="28575"/>
              <a:ext cx="567580" cy="538293"/>
            </a:xfrm>
            <a:prstGeom prst="rect">
              <a:avLst/>
            </a:prstGeom>
          </p:spPr>
          <p:txBody>
            <a:bodyPr lIns="65745" tIns="65745" rIns="65745" bIns="65745" rtlCol="0" anchor="ctr"/>
            <a:lstStyle/>
            <a:p>
              <a:pPr marL="0" lvl="0" indent="0" algn="ctr">
                <a:lnSpc>
                  <a:spcPts val="2460"/>
                </a:lnSpc>
              </a:pPr>
              <a:endParaRPr/>
            </a:p>
          </p:txBody>
        </p:sp>
      </p:grpSp>
      <p:sp>
        <p:nvSpPr>
          <p:cNvPr id="40" name="TextBox 9">
            <a:extLst>
              <a:ext uri="{FF2B5EF4-FFF2-40B4-BE49-F238E27FC236}">
                <a16:creationId xmlns:a16="http://schemas.microsoft.com/office/drawing/2014/main" id="{6D473FAB-BD0D-1120-0905-CF967AF4D1AA}"/>
              </a:ext>
            </a:extLst>
          </p:cNvPr>
          <p:cNvSpPr txBox="1"/>
          <p:nvPr/>
        </p:nvSpPr>
        <p:spPr>
          <a:xfrm>
            <a:off x="9289495" y="7948710"/>
            <a:ext cx="2459408" cy="807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24"/>
              </a:lnSpc>
            </a:pPr>
            <a:r>
              <a:rPr lang="en-US" sz="6085" b="1" spc="-182" dirty="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78%</a:t>
            </a:r>
          </a:p>
        </p:txBody>
      </p:sp>
      <p:sp>
        <p:nvSpPr>
          <p:cNvPr id="41" name="TextBox 10">
            <a:extLst>
              <a:ext uri="{FF2B5EF4-FFF2-40B4-BE49-F238E27FC236}">
                <a16:creationId xmlns:a16="http://schemas.microsoft.com/office/drawing/2014/main" id="{59E1DD07-FD2B-DD7A-A874-79F0C517C327}"/>
              </a:ext>
            </a:extLst>
          </p:cNvPr>
          <p:cNvSpPr txBox="1"/>
          <p:nvPr/>
        </p:nvSpPr>
        <p:spPr>
          <a:xfrm>
            <a:off x="9540599" y="8869382"/>
            <a:ext cx="1957200" cy="256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46"/>
              </a:lnSpc>
            </a:pPr>
            <a:r>
              <a:rPr lang="en-US" sz="1533" spc="-38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Keberhasilan</a:t>
            </a:r>
            <a:r>
              <a:rPr lang="en-US" sz="1533" spc="-3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Scan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4CA277-9B67-1576-4BA7-13866E74EB18}"/>
              </a:ext>
            </a:extLst>
          </p:cNvPr>
          <p:cNvSpPr txBox="1"/>
          <p:nvPr/>
        </p:nvSpPr>
        <p:spPr>
          <a:xfrm>
            <a:off x="7467600" y="7886700"/>
            <a:ext cx="449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 err="1"/>
              <a:t>rekaman</a:t>
            </a:r>
            <a:r>
              <a:rPr lang="en-ID" dirty="0"/>
              <a:t> scan video 7/7 </a:t>
            </a:r>
            <a:r>
              <a:rPr lang="en-ID" dirty="0" err="1"/>
              <a:t>paket</a:t>
            </a:r>
            <a:r>
              <a:rPr lang="en-ID" dirty="0"/>
              <a:t> </a:t>
            </a:r>
            <a:r>
              <a:rPr lang="en-ID" dirty="0" err="1"/>
              <a:t>berhasil</a:t>
            </a:r>
            <a:r>
              <a:rPr lang="en-ID" dirty="0"/>
              <a:t> di scan</a:t>
            </a:r>
          </a:p>
        </p:txBody>
      </p:sp>
      <p:pic>
        <p:nvPicPr>
          <p:cNvPr id="8" name="rekaman 7 per 7 paket terscan">
            <a:hlinkClick r:id="" action="ppaction://media"/>
            <a:extLst>
              <a:ext uri="{FF2B5EF4-FFF2-40B4-BE49-F238E27FC236}">
                <a16:creationId xmlns:a16="http://schemas.microsoft.com/office/drawing/2014/main" id="{BB5C4CBB-2F94-DD53-28A7-909BF119729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962400" y="14859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436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63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56766" y="2441554"/>
            <a:ext cx="5217559" cy="128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3"/>
              </a:lnSpc>
            </a:pPr>
            <a:r>
              <a:rPr lang="en-US" sz="9799" spc="-627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Insights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1358088"/>
            <a:ext cx="47625" cy="2040668"/>
            <a:chOff x="0" y="0"/>
            <a:chExt cx="12543" cy="5374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4312874"/>
            <a:ext cx="8172450" cy="379246"/>
            <a:chOff x="0" y="0"/>
            <a:chExt cx="10896600" cy="505662"/>
          </a:xfrm>
        </p:grpSpPr>
        <p:sp>
          <p:nvSpPr>
            <p:cNvPr id="7" name="TextBox 7"/>
            <p:cNvSpPr txBox="1"/>
            <p:nvPr/>
          </p:nvSpPr>
          <p:spPr>
            <a:xfrm>
              <a:off x="0" y="-49061"/>
              <a:ext cx="10820400" cy="5547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</a:pPr>
              <a:r>
                <a:rPr lang="en-US" sz="2370" b="1" spc="-59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TEMUAN KUNCI DARI PROYEK SCANNER LOGISTIK</a:t>
              </a:r>
            </a:p>
          </p:txBody>
        </p:sp>
        <p:sp>
          <p:nvSpPr>
            <p:cNvPr id="8" name="Freeform 8"/>
            <p:cNvSpPr/>
            <p:nvPr/>
          </p:nvSpPr>
          <p:spPr>
            <a:xfrm rot="-8687136">
              <a:off x="10579580" y="44820"/>
              <a:ext cx="252200" cy="304858"/>
            </a:xfrm>
            <a:custGeom>
              <a:avLst/>
              <a:gdLst/>
              <a:ahLst/>
              <a:cxnLst/>
              <a:rect l="l" t="t" r="r" b="b"/>
              <a:pathLst>
                <a:path w="252200" h="304858">
                  <a:moveTo>
                    <a:pt x="0" y="0"/>
                  </a:moveTo>
                  <a:lnTo>
                    <a:pt x="252200" y="0"/>
                  </a:lnTo>
                  <a:lnTo>
                    <a:pt x="252200" y="304857"/>
                  </a:lnTo>
                  <a:lnTo>
                    <a:pt x="0" y="30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6438046" y="0"/>
            <a:ext cx="1849954" cy="1848166"/>
            <a:chOff x="0" y="0"/>
            <a:chExt cx="2466605" cy="2464222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87566" cy="786805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805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19164" y="694049"/>
              <a:ext cx="1828278" cy="11999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425"/>
                </a:lnSpc>
              </a:pPr>
              <a:r>
                <a:rPr lang="en-US" sz="6557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06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10406565" y="1788576"/>
            <a:ext cx="6017405" cy="8357507"/>
          </a:xfrm>
          <a:custGeom>
            <a:avLst/>
            <a:gdLst/>
            <a:ahLst/>
            <a:cxnLst/>
            <a:rect l="l" t="t" r="r" b="b"/>
            <a:pathLst>
              <a:path w="6017405" h="8357507">
                <a:moveTo>
                  <a:pt x="0" y="0"/>
                </a:moveTo>
                <a:lnTo>
                  <a:pt x="6017405" y="0"/>
                </a:lnTo>
                <a:lnTo>
                  <a:pt x="6017405" y="8357506"/>
                </a:lnTo>
                <a:lnTo>
                  <a:pt x="0" y="83575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829426" y="5189722"/>
            <a:ext cx="7273799" cy="810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74"/>
              </a:lnSpc>
            </a:pP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Pembacaan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resi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lebih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efektif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dengan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algoritma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deterministik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pembaca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piksel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PyZbar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29426" y="6181013"/>
            <a:ext cx="7273799" cy="1209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74"/>
              </a:lnSpc>
            </a:pP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Tingkat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kecanggihan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kamera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menentukan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hasil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pembacaan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barcode.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Semakin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bagus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kamera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semakin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baik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hasilnya</a:t>
            </a:r>
            <a:endParaRPr lang="en-US" sz="2267" spc="-56" dirty="0">
              <a:solidFill>
                <a:srgbClr val="3A58E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829426" y="7571934"/>
            <a:ext cx="7273799" cy="79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74"/>
              </a:lnSpc>
            </a:pP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Tingkat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pencahayaan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dan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kejernihan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shipping label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paket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mempengaruhi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hasil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pembacaan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barcode</a:t>
            </a:r>
          </a:p>
        </p:txBody>
      </p:sp>
      <p:sp>
        <p:nvSpPr>
          <p:cNvPr id="20" name="Freeform 20"/>
          <p:cNvSpPr/>
          <p:nvPr/>
        </p:nvSpPr>
        <p:spPr>
          <a:xfrm>
            <a:off x="1011737" y="5383682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11737" y="6374973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011736" y="7732556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2" y="0"/>
                </a:lnTo>
                <a:lnTo>
                  <a:pt x="489072" y="489072"/>
                </a:lnTo>
                <a:lnTo>
                  <a:pt x="0" y="4890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38046" y="129"/>
            <a:ext cx="1849954" cy="1848037"/>
            <a:chOff x="0" y="0"/>
            <a:chExt cx="2466605" cy="246405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66605" cy="2464050"/>
              <a:chOff x="0" y="0"/>
              <a:chExt cx="787566" cy="78675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319164" y="694049"/>
              <a:ext cx="1828278" cy="1199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421"/>
                </a:lnSpc>
              </a:pPr>
              <a:r>
                <a:rPr lang="en-US" sz="6552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07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536445" y="2779313"/>
            <a:ext cx="7215109" cy="379289"/>
            <a:chOff x="0" y="0"/>
            <a:chExt cx="9620146" cy="505718"/>
          </a:xfrm>
        </p:grpSpPr>
        <p:sp>
          <p:nvSpPr>
            <p:cNvPr id="8" name="TextBox 8"/>
            <p:cNvSpPr txBox="1"/>
            <p:nvPr/>
          </p:nvSpPr>
          <p:spPr>
            <a:xfrm>
              <a:off x="0" y="-49061"/>
              <a:ext cx="9403826" cy="5547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6"/>
                </a:lnSpc>
              </a:pPr>
              <a:r>
                <a:rPr lang="en-US" sz="2368" b="1" spc="-59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ALUR KERJA SISTEM SCANNING RESI OTOMATIS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363658" y="1247968"/>
            <a:ext cx="11560683" cy="127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96"/>
              </a:lnSpc>
            </a:pPr>
            <a:r>
              <a:rPr lang="en-US" sz="9792" spc="-626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Methodology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343400" y="3848100"/>
            <a:ext cx="3213033" cy="5379569"/>
            <a:chOff x="0" y="0"/>
            <a:chExt cx="1387961" cy="232385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87961" cy="2323857"/>
            </a:xfrm>
            <a:custGeom>
              <a:avLst/>
              <a:gdLst/>
              <a:ahLst/>
              <a:cxnLst/>
              <a:rect l="l" t="t" r="r" b="b"/>
              <a:pathLst>
                <a:path w="1387961" h="2323857">
                  <a:moveTo>
                    <a:pt x="0" y="0"/>
                  </a:moveTo>
                  <a:lnTo>
                    <a:pt x="1387961" y="0"/>
                  </a:lnTo>
                  <a:lnTo>
                    <a:pt x="1387961" y="2323857"/>
                  </a:lnTo>
                  <a:lnTo>
                    <a:pt x="0" y="2323857"/>
                  </a:lnTo>
                  <a:close/>
                </a:path>
              </a:pathLst>
            </a:custGeom>
            <a:solidFill>
              <a:srgbClr val="2B42A8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387961" cy="2361957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547516" y="3848100"/>
            <a:ext cx="3213033" cy="5379569"/>
            <a:chOff x="0" y="0"/>
            <a:chExt cx="1387961" cy="232385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87961" cy="2323857"/>
            </a:xfrm>
            <a:custGeom>
              <a:avLst/>
              <a:gdLst/>
              <a:ahLst/>
              <a:cxnLst/>
              <a:rect l="l" t="t" r="r" b="b"/>
              <a:pathLst>
                <a:path w="1387961" h="2323857">
                  <a:moveTo>
                    <a:pt x="0" y="0"/>
                  </a:moveTo>
                  <a:lnTo>
                    <a:pt x="1387961" y="0"/>
                  </a:lnTo>
                  <a:lnTo>
                    <a:pt x="1387961" y="2323857"/>
                  </a:lnTo>
                  <a:lnTo>
                    <a:pt x="0" y="2323857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387961" cy="2361957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751631" y="3848100"/>
            <a:ext cx="3213033" cy="5379569"/>
            <a:chOff x="0" y="0"/>
            <a:chExt cx="1387961" cy="232385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87961" cy="2323857"/>
            </a:xfrm>
            <a:custGeom>
              <a:avLst/>
              <a:gdLst/>
              <a:ahLst/>
              <a:cxnLst/>
              <a:rect l="l" t="t" r="r" b="b"/>
              <a:pathLst>
                <a:path w="1387961" h="2323857">
                  <a:moveTo>
                    <a:pt x="0" y="0"/>
                  </a:moveTo>
                  <a:lnTo>
                    <a:pt x="1387961" y="0"/>
                  </a:lnTo>
                  <a:lnTo>
                    <a:pt x="1387961" y="2323857"/>
                  </a:lnTo>
                  <a:lnTo>
                    <a:pt x="0" y="2323857"/>
                  </a:lnTo>
                  <a:close/>
                </a:path>
              </a:pathLst>
            </a:custGeom>
            <a:solidFill>
              <a:srgbClr val="6984FE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387961" cy="2361957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5400000">
            <a:off x="4207835" y="7749774"/>
            <a:ext cx="622999" cy="351870"/>
            <a:chOff x="0" y="0"/>
            <a:chExt cx="1387983" cy="78403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AFBE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 rot="5400000">
            <a:off x="7392901" y="4974125"/>
            <a:ext cx="622999" cy="351870"/>
            <a:chOff x="0" y="0"/>
            <a:chExt cx="1387983" cy="78403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2B42A8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 rot="5400000">
            <a:off x="10597017" y="7749774"/>
            <a:ext cx="622999" cy="351870"/>
            <a:chOff x="0" y="0"/>
            <a:chExt cx="1387983" cy="78403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 rot="5400000">
            <a:off x="13791608" y="4974125"/>
            <a:ext cx="622999" cy="351870"/>
            <a:chOff x="0" y="0"/>
            <a:chExt cx="1387983" cy="78403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6984FE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881954" y="4361839"/>
            <a:ext cx="2135924" cy="1891827"/>
            <a:chOff x="0" y="0"/>
            <a:chExt cx="2847898" cy="2522436"/>
          </a:xfrm>
        </p:grpSpPr>
        <p:sp>
          <p:nvSpPr>
            <p:cNvPr id="35" name="TextBox 35"/>
            <p:cNvSpPr txBox="1"/>
            <p:nvPr/>
          </p:nvSpPr>
          <p:spPr>
            <a:xfrm>
              <a:off x="0" y="-28575"/>
              <a:ext cx="2847898" cy="7881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353"/>
                </a:lnSpc>
              </a:pPr>
              <a:r>
                <a:rPr lang="en-US" sz="1824" b="1" spc="-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VIDEO</a:t>
              </a:r>
            </a:p>
            <a:p>
              <a:pPr marL="0" lvl="0" indent="0" algn="just">
                <a:lnSpc>
                  <a:spcPts val="2353"/>
                </a:lnSpc>
              </a:pPr>
              <a:r>
                <a:rPr lang="en-US" sz="1824" b="1" spc="-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CAPTURE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1046964"/>
              <a:ext cx="2847898" cy="14754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226"/>
                </a:lnSpc>
              </a:pPr>
              <a:r>
                <a:rPr lang="en-US" sz="1725" spc="-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Kamera menangkap video real-time paket di atas konveyor.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6082652" y="7488341"/>
            <a:ext cx="1445813" cy="142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537"/>
              </a:lnSpc>
            </a:pPr>
            <a:r>
              <a:rPr lang="en-US" sz="8944" spc="-2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01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8086070" y="6094401"/>
            <a:ext cx="2135924" cy="1926576"/>
            <a:chOff x="0" y="-28575"/>
            <a:chExt cx="2847898" cy="2568768"/>
          </a:xfrm>
        </p:grpSpPr>
        <p:sp>
          <p:nvSpPr>
            <p:cNvPr id="39" name="TextBox 39"/>
            <p:cNvSpPr txBox="1"/>
            <p:nvPr/>
          </p:nvSpPr>
          <p:spPr>
            <a:xfrm>
              <a:off x="0" y="-28575"/>
              <a:ext cx="2847898" cy="8055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algn="just">
                <a:lnSpc>
                  <a:spcPts val="2353"/>
                </a:lnSpc>
              </a:pPr>
              <a:r>
                <a:rPr lang="en-US" sz="1824" b="1" spc="-5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GRAYSCALE &amp; OTSU BINARISASI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1046964"/>
              <a:ext cx="2847898" cy="14932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algn="just">
                <a:lnSpc>
                  <a:spcPts val="2226"/>
                </a:lnSpc>
              </a:pPr>
              <a:r>
                <a:rPr lang="en-US" sz="1725" spc="-5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Konversi</a:t>
              </a:r>
              <a:r>
                <a:rPr lang="en-US" sz="1725" spc="-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grayscale dan thresholding Otsu </a:t>
              </a:r>
              <a:r>
                <a:rPr lang="en-US" sz="1725" spc="-5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untuk</a:t>
              </a:r>
              <a:r>
                <a:rPr lang="en-US" sz="1725" spc="-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725" spc="-5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kontras</a:t>
              </a:r>
              <a:r>
                <a:rPr lang="en-US" sz="1725" spc="-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barcode optimal.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037888" y="4040098"/>
            <a:ext cx="1578549" cy="142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537"/>
              </a:lnSpc>
            </a:pPr>
            <a:r>
              <a:rPr lang="en-US" sz="8944" spc="-2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02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1294002" y="4340408"/>
            <a:ext cx="2135924" cy="2208704"/>
            <a:chOff x="0" y="-28575"/>
            <a:chExt cx="2847898" cy="2944939"/>
          </a:xfrm>
        </p:grpSpPr>
        <p:sp>
          <p:nvSpPr>
            <p:cNvPr id="43" name="TextBox 43"/>
            <p:cNvSpPr txBox="1"/>
            <p:nvPr/>
          </p:nvSpPr>
          <p:spPr>
            <a:xfrm>
              <a:off x="0" y="-28575"/>
              <a:ext cx="2847898" cy="12158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algn="just">
                <a:lnSpc>
                  <a:spcPts val="2353"/>
                </a:lnSpc>
              </a:pPr>
              <a:r>
                <a:rPr lang="en-US" sz="1824" b="1" spc="-5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PYZBAR DECODING &amp; SQLITE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1046964"/>
              <a:ext cx="2847898" cy="1869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algn="just">
                <a:lnSpc>
                  <a:spcPts val="2226"/>
                </a:lnSpc>
              </a:pPr>
              <a:r>
                <a:rPr lang="en-US" sz="1725" spc="-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Decode barcode </a:t>
              </a:r>
              <a:r>
                <a:rPr lang="en-US" sz="1725" spc="-5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dengan</a:t>
              </a:r>
              <a:r>
                <a:rPr lang="en-US" sz="1725" spc="-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725" spc="-5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PyZbar</a:t>
              </a:r>
              <a:r>
                <a:rPr lang="en-US" sz="1725" spc="-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n-US" sz="1725" spc="-5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validasi</a:t>
              </a:r>
              <a:r>
                <a:rPr lang="en-US" sz="1725" spc="-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dan </a:t>
              </a:r>
              <a:r>
                <a:rPr lang="en-US" sz="1725" spc="-5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simpan</a:t>
              </a:r>
              <a:r>
                <a:rPr lang="en-US" sz="1725" spc="-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725" spc="-5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ke</a:t>
              </a:r>
              <a:r>
                <a:rPr lang="en-US" sz="1725" spc="-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SQLite database.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2229228" y="7488341"/>
            <a:ext cx="1711285" cy="142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537"/>
              </a:lnSpc>
            </a:pPr>
            <a:r>
              <a:rPr lang="en-US" sz="8944" spc="-2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03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3837845" y="4070729"/>
            <a:ext cx="1578549" cy="142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537"/>
              </a:lnSpc>
            </a:pPr>
            <a:r>
              <a:rPr lang="en-US" sz="8944" spc="-26" dirty="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741311" y="0"/>
            <a:ext cx="546689" cy="7173190"/>
            <a:chOff x="0" y="0"/>
            <a:chExt cx="143984" cy="1889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984" cy="1889235"/>
            </a:xfrm>
            <a:custGeom>
              <a:avLst/>
              <a:gdLst/>
              <a:ahLst/>
              <a:cxnLst/>
              <a:rect l="l" t="t" r="r" b="b"/>
              <a:pathLst>
                <a:path w="143984" h="1889235">
                  <a:moveTo>
                    <a:pt x="0" y="0"/>
                  </a:moveTo>
                  <a:lnTo>
                    <a:pt x="143984" y="0"/>
                  </a:lnTo>
                  <a:lnTo>
                    <a:pt x="143984" y="1889235"/>
                  </a:lnTo>
                  <a:lnTo>
                    <a:pt x="0" y="1889235"/>
                  </a:ln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3984" cy="1927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H="1">
            <a:off x="4442685" y="0"/>
            <a:ext cx="0" cy="1028700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8872264" y="0"/>
            <a:ext cx="0" cy="7163665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3301844" y="0"/>
            <a:ext cx="0" cy="7163665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0" y="7173190"/>
            <a:ext cx="18288000" cy="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6305" y="9608"/>
            <a:ext cx="1197405" cy="1196165"/>
            <a:chOff x="0" y="0"/>
            <a:chExt cx="1596540" cy="1594886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206583" y="454809"/>
              <a:ext cx="1183375" cy="770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42685" y="9608"/>
            <a:ext cx="1197405" cy="1196165"/>
            <a:chOff x="0" y="0"/>
            <a:chExt cx="1596540" cy="1594886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206583" y="454809"/>
              <a:ext cx="1183375" cy="770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02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875845" y="9608"/>
            <a:ext cx="1197405" cy="1196165"/>
            <a:chOff x="0" y="0"/>
            <a:chExt cx="1596540" cy="1594886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206583" y="454809"/>
              <a:ext cx="1183375" cy="770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309005" y="9608"/>
            <a:ext cx="1197405" cy="1196165"/>
            <a:chOff x="0" y="0"/>
            <a:chExt cx="1596540" cy="1594886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206583" y="454809"/>
              <a:ext cx="1183375" cy="770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04</a:t>
              </a:r>
            </a:p>
          </p:txBody>
        </p:sp>
      </p:grpSp>
      <p:sp>
        <p:nvSpPr>
          <p:cNvPr id="29" name="Freeform 29"/>
          <p:cNvSpPr/>
          <p:nvPr/>
        </p:nvSpPr>
        <p:spPr>
          <a:xfrm>
            <a:off x="10617313" y="1909470"/>
            <a:ext cx="870363" cy="771111"/>
          </a:xfrm>
          <a:custGeom>
            <a:avLst/>
            <a:gdLst/>
            <a:ahLst/>
            <a:cxnLst/>
            <a:rect l="l" t="t" r="r" b="b"/>
            <a:pathLst>
              <a:path w="870363" h="771111">
                <a:moveTo>
                  <a:pt x="0" y="0"/>
                </a:moveTo>
                <a:lnTo>
                  <a:pt x="870364" y="0"/>
                </a:lnTo>
                <a:lnTo>
                  <a:pt x="870364" y="771111"/>
                </a:lnTo>
                <a:lnTo>
                  <a:pt x="0" y="7711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 rot="-5400000">
            <a:off x="14841252" y="1727888"/>
            <a:ext cx="1327968" cy="1136392"/>
          </a:xfrm>
          <a:custGeom>
            <a:avLst/>
            <a:gdLst/>
            <a:ahLst/>
            <a:cxnLst/>
            <a:rect l="l" t="t" r="r" b="b"/>
            <a:pathLst>
              <a:path w="1327968" h="1136392">
                <a:moveTo>
                  <a:pt x="0" y="0"/>
                </a:moveTo>
                <a:lnTo>
                  <a:pt x="1327968" y="0"/>
                </a:lnTo>
                <a:lnTo>
                  <a:pt x="1327968" y="1136392"/>
                </a:lnTo>
                <a:lnTo>
                  <a:pt x="0" y="1136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855735" y="1924061"/>
            <a:ext cx="759391" cy="754428"/>
          </a:xfrm>
          <a:custGeom>
            <a:avLst/>
            <a:gdLst/>
            <a:ahLst/>
            <a:cxnLst/>
            <a:rect l="l" t="t" r="r" b="b"/>
            <a:pathLst>
              <a:path w="759391" h="754428">
                <a:moveTo>
                  <a:pt x="0" y="0"/>
                </a:moveTo>
                <a:lnTo>
                  <a:pt x="759391" y="0"/>
                </a:lnTo>
                <a:lnTo>
                  <a:pt x="759391" y="754427"/>
                </a:lnTo>
                <a:lnTo>
                  <a:pt x="0" y="7544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32" name="Group 32"/>
          <p:cNvGrpSpPr/>
          <p:nvPr/>
        </p:nvGrpSpPr>
        <p:grpSpPr>
          <a:xfrm>
            <a:off x="1028700" y="8125800"/>
            <a:ext cx="22757" cy="975106"/>
            <a:chOff x="0" y="0"/>
            <a:chExt cx="12543" cy="53746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-9525" y="7173190"/>
            <a:ext cx="546689" cy="3113810"/>
            <a:chOff x="0" y="0"/>
            <a:chExt cx="143984" cy="82009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43984" cy="820098"/>
            </a:xfrm>
            <a:custGeom>
              <a:avLst/>
              <a:gdLst/>
              <a:ahLst/>
              <a:cxnLst/>
              <a:rect l="l" t="t" r="r" b="b"/>
              <a:pathLst>
                <a:path w="143984" h="820098">
                  <a:moveTo>
                    <a:pt x="0" y="0"/>
                  </a:moveTo>
                  <a:lnTo>
                    <a:pt x="143984" y="0"/>
                  </a:lnTo>
                  <a:lnTo>
                    <a:pt x="143984" y="820098"/>
                  </a:lnTo>
                  <a:lnTo>
                    <a:pt x="0" y="820098"/>
                  </a:ln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43984" cy="858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6117561" y="1698584"/>
            <a:ext cx="1159493" cy="1186046"/>
          </a:xfrm>
          <a:custGeom>
            <a:avLst/>
            <a:gdLst/>
            <a:ahLst/>
            <a:cxnLst/>
            <a:rect l="l" t="t" r="r" b="b"/>
            <a:pathLst>
              <a:path w="1159493" h="1186046">
                <a:moveTo>
                  <a:pt x="0" y="0"/>
                </a:moveTo>
                <a:lnTo>
                  <a:pt x="1159493" y="0"/>
                </a:lnTo>
                <a:lnTo>
                  <a:pt x="1159493" y="1186047"/>
                </a:lnTo>
                <a:lnTo>
                  <a:pt x="0" y="11860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562973" y="4780341"/>
            <a:ext cx="3336787" cy="1538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6"/>
              </a:lnSpc>
            </a:pPr>
            <a:r>
              <a:rPr lang="en-US" sz="1874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Solusi: Menggunakan kamera dengan lensa berkualitas lebih baik untuk meningkatkan keberhasilan pemindaian barcode.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989081" y="4780341"/>
            <a:ext cx="3336787" cy="1538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6"/>
              </a:lnSpc>
            </a:pP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Solusi: 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Menyesuaikan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jarak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optimal 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kamera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20-30 cm 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sesuai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kualitas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kamera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untuk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hasil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scanning 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maksimal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15189" y="4780341"/>
            <a:ext cx="3336787" cy="1538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6"/>
              </a:lnSpc>
            </a:pPr>
            <a:r>
              <a:rPr lang="en-US" sz="1874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Solusi: Otsu's Thresholding memisahkan hitam-putih dengan jelas dan whitelist symbols khusus barcode logistik di PyZbar.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844769" y="4780341"/>
            <a:ext cx="3336787" cy="1529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6"/>
              </a:lnSpc>
            </a:pP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Solusi: 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Mengecualikan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paket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	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dengan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barcode blur 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dari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proses scanning 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untuk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menghindari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error 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pembacaan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resi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37678" y="8075758"/>
            <a:ext cx="2762082" cy="1182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13"/>
              </a:lnSpc>
            </a:pPr>
            <a:r>
              <a:rPr lang="en-US" sz="4605" spc="-294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Challenges &amp; Solutions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989081" y="8422961"/>
            <a:ext cx="7762895" cy="677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62"/>
              </a:lnSpc>
            </a:pPr>
            <a:r>
              <a:rPr lang="en-US" sz="1901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Tantangan utama dalam sistem scanning resi logistik otomatis dan solusi teknis yang diterapkan untuk mengatasinya.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12270" y="3090400"/>
            <a:ext cx="3438193" cy="82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3"/>
              </a:lnSpc>
              <a:spcBef>
                <a:spcPct val="0"/>
              </a:spcBef>
            </a:pPr>
            <a:r>
              <a:rPr lang="en-US" sz="2388" b="1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KUALITAS KAMERA RENDAH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938378" y="3090400"/>
            <a:ext cx="3438193" cy="82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3"/>
              </a:lnSpc>
              <a:spcBef>
                <a:spcPct val="0"/>
              </a:spcBef>
            </a:pPr>
            <a:r>
              <a:rPr lang="en-US" sz="2388" b="1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JARAK KAMERA TERLALU JAUH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364486" y="3090400"/>
            <a:ext cx="3438193" cy="82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3"/>
              </a:lnSpc>
            </a:pPr>
            <a:r>
              <a:rPr lang="en-US" sz="2388" b="1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MOTION BLUR SAAT BERGERAK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794066" y="3090400"/>
            <a:ext cx="3655731" cy="823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343"/>
              </a:lnSpc>
            </a:pPr>
            <a:r>
              <a:rPr lang="en-US" sz="2388" b="1" spc="-152" dirty="0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SULIT TERBACA JIKA BARCODE BLUR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56766" y="2441554"/>
            <a:ext cx="5217559" cy="128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3"/>
              </a:lnSpc>
            </a:pPr>
            <a:r>
              <a:rPr lang="en-US" sz="9799" spc="-627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Learnings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1358088"/>
            <a:ext cx="47625" cy="2040668"/>
            <a:chOff x="0" y="0"/>
            <a:chExt cx="12543" cy="5374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4312874"/>
            <a:ext cx="8172450" cy="379246"/>
            <a:chOff x="0" y="0"/>
            <a:chExt cx="10896600" cy="505662"/>
          </a:xfrm>
        </p:grpSpPr>
        <p:sp>
          <p:nvSpPr>
            <p:cNvPr id="7" name="TextBox 7"/>
            <p:cNvSpPr txBox="1"/>
            <p:nvPr/>
          </p:nvSpPr>
          <p:spPr>
            <a:xfrm>
              <a:off x="0" y="-49117"/>
              <a:ext cx="10820400" cy="5547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6"/>
                </a:lnSpc>
              </a:pPr>
              <a:r>
                <a:rPr lang="en-US" sz="2368" b="1" spc="-59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KEY TAKEAWAYS: FAKTOR KEBERHASILAN SISTEM</a:t>
              </a:r>
            </a:p>
          </p:txBody>
        </p:sp>
        <p:sp>
          <p:nvSpPr>
            <p:cNvPr id="8" name="Freeform 8"/>
            <p:cNvSpPr/>
            <p:nvPr/>
          </p:nvSpPr>
          <p:spPr>
            <a:xfrm rot="-8687136">
              <a:off x="10579580" y="44820"/>
              <a:ext cx="252200" cy="304858"/>
            </a:xfrm>
            <a:custGeom>
              <a:avLst/>
              <a:gdLst/>
              <a:ahLst/>
              <a:cxnLst/>
              <a:rect l="l" t="t" r="r" b="b"/>
              <a:pathLst>
                <a:path w="252200" h="304858">
                  <a:moveTo>
                    <a:pt x="0" y="0"/>
                  </a:moveTo>
                  <a:lnTo>
                    <a:pt x="252200" y="0"/>
                  </a:lnTo>
                  <a:lnTo>
                    <a:pt x="252200" y="304857"/>
                  </a:lnTo>
                  <a:lnTo>
                    <a:pt x="0" y="30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6438046" y="129"/>
            <a:ext cx="1849954" cy="1848037"/>
            <a:chOff x="0" y="0"/>
            <a:chExt cx="2466605" cy="246405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2466605" cy="2464050"/>
              <a:chOff x="0" y="0"/>
              <a:chExt cx="787566" cy="78675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19164" y="694049"/>
              <a:ext cx="1828278" cy="1199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421"/>
                </a:lnSpc>
              </a:pPr>
              <a:r>
                <a:rPr lang="en-US" sz="6552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09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9928652" y="2643627"/>
            <a:ext cx="6886058" cy="6825805"/>
          </a:xfrm>
          <a:custGeom>
            <a:avLst/>
            <a:gdLst/>
            <a:ahLst/>
            <a:cxnLst/>
            <a:rect l="l" t="t" r="r" b="b"/>
            <a:pathLst>
              <a:path w="6886058" h="6825805">
                <a:moveTo>
                  <a:pt x="0" y="0"/>
                </a:moveTo>
                <a:lnTo>
                  <a:pt x="6886058" y="0"/>
                </a:lnTo>
                <a:lnTo>
                  <a:pt x="6886058" y="6825805"/>
                </a:lnTo>
                <a:lnTo>
                  <a:pt x="0" y="6825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870201" y="5231495"/>
            <a:ext cx="7273799" cy="785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88"/>
              </a:lnSpc>
            </a:pPr>
            <a:r>
              <a:rPr lang="en-US" sz="2206" spc="-5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Keberhasilan Computer Vision sangat tergantung pada kualitas input data yang diterima sistem.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70201" y="6222786"/>
            <a:ext cx="7273799" cy="785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88"/>
              </a:lnSpc>
            </a:pPr>
            <a:r>
              <a:rPr lang="en-US" sz="2206" spc="-5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Batasan operasional (jarak kamera, whitelist barcode) meningkatkan presisi dan mengurangi false positive.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70201" y="7214078"/>
            <a:ext cx="7273799" cy="117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ts val="3088"/>
              </a:lnSpc>
            </a:pPr>
            <a:r>
              <a:rPr lang="en-US" sz="2206" spc="-5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Memaksakan</a:t>
            </a:r>
            <a:r>
              <a:rPr lang="en-US" sz="2206" spc="-5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model </a:t>
            </a:r>
            <a:r>
              <a:rPr lang="en-US" sz="2206" spc="-5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bekerja</a:t>
            </a:r>
            <a:r>
              <a:rPr lang="en-US" sz="2206" spc="-5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di </a:t>
            </a:r>
            <a:r>
              <a:rPr lang="en-US" sz="2206" spc="-5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segala</a:t>
            </a:r>
            <a:r>
              <a:rPr lang="en-US" sz="2206" spc="-5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6" spc="-5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kondisi</a:t>
            </a:r>
            <a:r>
              <a:rPr lang="en-US" sz="2206" spc="-5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6" spc="-5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justru</a:t>
            </a:r>
            <a:r>
              <a:rPr lang="en-US" sz="2206" spc="-5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6" spc="-5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menurunkan</a:t>
            </a:r>
            <a:r>
              <a:rPr lang="en-US" sz="2206" spc="-5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6" spc="-5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performa</a:t>
            </a:r>
            <a:r>
              <a:rPr lang="en-US" sz="2206" spc="-5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6" spc="-5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secara</a:t>
            </a:r>
            <a:r>
              <a:rPr lang="en-US" sz="2206" spc="-5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6" spc="-5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keseluruhan</a:t>
            </a:r>
            <a:r>
              <a:rPr lang="en-US" sz="2206" spc="-5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206" spc="-5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Optimasi</a:t>
            </a:r>
            <a:r>
              <a:rPr lang="en-US" sz="2206" spc="-5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parameter </a:t>
            </a:r>
            <a:r>
              <a:rPr lang="en-US" sz="2206" spc="-5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spesifik</a:t>
            </a:r>
            <a:r>
              <a:rPr lang="en-US" sz="2206" spc="-5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6" spc="-5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lebih</a:t>
            </a:r>
            <a:r>
              <a:rPr lang="en-US" sz="2206" spc="-5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6" spc="-5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efektif</a:t>
            </a:r>
            <a:r>
              <a:rPr lang="en-US" sz="2206" spc="-5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9" name="Freeform 19"/>
          <p:cNvSpPr/>
          <p:nvPr/>
        </p:nvSpPr>
        <p:spPr>
          <a:xfrm>
            <a:off x="1052512" y="5400430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52512" y="6391722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52512" y="7383013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741311" y="0"/>
            <a:ext cx="546689" cy="7173190"/>
            <a:chOff x="0" y="0"/>
            <a:chExt cx="143984" cy="1889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984" cy="1889235"/>
            </a:xfrm>
            <a:custGeom>
              <a:avLst/>
              <a:gdLst/>
              <a:ahLst/>
              <a:cxnLst/>
              <a:rect l="l" t="t" r="r" b="b"/>
              <a:pathLst>
                <a:path w="143984" h="1889235">
                  <a:moveTo>
                    <a:pt x="0" y="0"/>
                  </a:moveTo>
                  <a:lnTo>
                    <a:pt x="143984" y="0"/>
                  </a:lnTo>
                  <a:lnTo>
                    <a:pt x="143984" y="1889235"/>
                  </a:lnTo>
                  <a:lnTo>
                    <a:pt x="0" y="1889235"/>
                  </a:ln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3984" cy="1927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H="1">
            <a:off x="4442685" y="0"/>
            <a:ext cx="0" cy="1028700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8872264" y="0"/>
            <a:ext cx="0" cy="7163665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3301844" y="0"/>
            <a:ext cx="0" cy="7163665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0" y="7173190"/>
            <a:ext cx="18288000" cy="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6305" y="9608"/>
            <a:ext cx="1197405" cy="1196165"/>
            <a:chOff x="0" y="0"/>
            <a:chExt cx="1596540" cy="1594886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206583" y="454809"/>
              <a:ext cx="1183375" cy="770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42685" y="9608"/>
            <a:ext cx="1197405" cy="1196165"/>
            <a:chOff x="0" y="0"/>
            <a:chExt cx="1596540" cy="1594886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206583" y="454809"/>
              <a:ext cx="1183375" cy="770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02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875845" y="9608"/>
            <a:ext cx="1197405" cy="1196165"/>
            <a:chOff x="0" y="0"/>
            <a:chExt cx="1596540" cy="1594886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206583" y="454809"/>
              <a:ext cx="1183375" cy="770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309005" y="9608"/>
            <a:ext cx="1197405" cy="1196165"/>
            <a:chOff x="0" y="0"/>
            <a:chExt cx="1596540" cy="1594886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206583" y="454809"/>
              <a:ext cx="1183375" cy="770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04</a:t>
              </a:r>
            </a:p>
          </p:txBody>
        </p:sp>
      </p:grpSp>
      <p:sp>
        <p:nvSpPr>
          <p:cNvPr id="29" name="Freeform 29"/>
          <p:cNvSpPr/>
          <p:nvPr/>
        </p:nvSpPr>
        <p:spPr>
          <a:xfrm>
            <a:off x="10610858" y="1766143"/>
            <a:ext cx="908389" cy="956753"/>
          </a:xfrm>
          <a:custGeom>
            <a:avLst/>
            <a:gdLst/>
            <a:ahLst/>
            <a:cxnLst/>
            <a:rect l="l" t="t" r="r" b="b"/>
            <a:pathLst>
              <a:path w="908389" h="956753">
                <a:moveTo>
                  <a:pt x="0" y="0"/>
                </a:moveTo>
                <a:lnTo>
                  <a:pt x="908389" y="0"/>
                </a:lnTo>
                <a:lnTo>
                  <a:pt x="908389" y="956753"/>
                </a:lnTo>
                <a:lnTo>
                  <a:pt x="0" y="9567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 rot="-5400000">
            <a:off x="15038067" y="1810727"/>
            <a:ext cx="918921" cy="971430"/>
          </a:xfrm>
          <a:custGeom>
            <a:avLst/>
            <a:gdLst/>
            <a:ahLst/>
            <a:cxnLst/>
            <a:rect l="l" t="t" r="r" b="b"/>
            <a:pathLst>
              <a:path w="918921" h="971430">
                <a:moveTo>
                  <a:pt x="0" y="0"/>
                </a:moveTo>
                <a:lnTo>
                  <a:pt x="918921" y="0"/>
                </a:lnTo>
                <a:lnTo>
                  <a:pt x="918921" y="971430"/>
                </a:lnTo>
                <a:lnTo>
                  <a:pt x="0" y="9714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768483" y="1978443"/>
            <a:ext cx="930944" cy="560050"/>
          </a:xfrm>
          <a:custGeom>
            <a:avLst/>
            <a:gdLst/>
            <a:ahLst/>
            <a:cxnLst/>
            <a:rect l="l" t="t" r="r" b="b"/>
            <a:pathLst>
              <a:path w="930944" h="560050">
                <a:moveTo>
                  <a:pt x="0" y="0"/>
                </a:moveTo>
                <a:lnTo>
                  <a:pt x="930944" y="0"/>
                </a:lnTo>
                <a:lnTo>
                  <a:pt x="930944" y="560050"/>
                </a:lnTo>
                <a:lnTo>
                  <a:pt x="0" y="5600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32" name="Group 32"/>
          <p:cNvGrpSpPr/>
          <p:nvPr/>
        </p:nvGrpSpPr>
        <p:grpSpPr>
          <a:xfrm>
            <a:off x="1028700" y="8125800"/>
            <a:ext cx="22757" cy="975106"/>
            <a:chOff x="0" y="0"/>
            <a:chExt cx="12543" cy="53746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-9525" y="7173190"/>
            <a:ext cx="546689" cy="3113810"/>
            <a:chOff x="0" y="0"/>
            <a:chExt cx="143984" cy="82009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43984" cy="820098"/>
            </a:xfrm>
            <a:custGeom>
              <a:avLst/>
              <a:gdLst/>
              <a:ahLst/>
              <a:cxnLst/>
              <a:rect l="l" t="t" r="r" b="b"/>
              <a:pathLst>
                <a:path w="143984" h="820098">
                  <a:moveTo>
                    <a:pt x="0" y="0"/>
                  </a:moveTo>
                  <a:lnTo>
                    <a:pt x="143984" y="0"/>
                  </a:lnTo>
                  <a:lnTo>
                    <a:pt x="143984" y="820098"/>
                  </a:lnTo>
                  <a:lnTo>
                    <a:pt x="0" y="820098"/>
                  </a:ln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43984" cy="858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6193342" y="1689669"/>
            <a:ext cx="1001453" cy="1200017"/>
          </a:xfrm>
          <a:custGeom>
            <a:avLst/>
            <a:gdLst/>
            <a:ahLst/>
            <a:cxnLst/>
            <a:rect l="l" t="t" r="r" b="b"/>
            <a:pathLst>
              <a:path w="1001453" h="1200017">
                <a:moveTo>
                  <a:pt x="0" y="0"/>
                </a:moveTo>
                <a:lnTo>
                  <a:pt x="1001453" y="0"/>
                </a:lnTo>
                <a:lnTo>
                  <a:pt x="1001453" y="1200018"/>
                </a:lnTo>
                <a:lnTo>
                  <a:pt x="0" y="12000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562973" y="4475524"/>
            <a:ext cx="3336787" cy="18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5"/>
              </a:lnSpc>
            </a:pPr>
            <a:r>
              <a:rPr lang="en-US" sz="1873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Aplikasi dan backend di-deploy pada VM terdedikasi untuk memastikan performa stabil dan akses dari multi-cabang gudang secara bersamaan.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989081" y="4475524"/>
            <a:ext cx="3336787" cy="18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5"/>
              </a:lnSpc>
            </a:pPr>
            <a:r>
              <a:rPr lang="en-US" sz="1873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Migrasi dari SQLite ke PostgreSQL untuk skalabilitas lebih baik, mendukung concurrent access dan data integrity untuk operasi multi-lokasi.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15189" y="4475524"/>
            <a:ext cx="3336787" cy="18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5"/>
              </a:lnSpc>
            </a:pP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Integrasi </a:t>
            </a: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dengan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n8n automation platform </a:t>
            </a: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untuk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memproses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event scanning dan trigger workflow </a:t>
            </a: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otomatis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berdasarkan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kategori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paket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844768" y="4490706"/>
            <a:ext cx="3336787" cy="153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5"/>
              </a:lnSpc>
            </a:pP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Notifikasi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real-time via Telegram </a:t>
            </a: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untuk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paket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kategori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VIP </a:t>
            </a: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atau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Fragile, </a:t>
            </a: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memastikan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penanganan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prioritas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oleh </a:t>
            </a: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tim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gudang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37677" y="8317365"/>
            <a:ext cx="3053321" cy="940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70"/>
              </a:lnSpc>
            </a:pPr>
            <a:r>
              <a:rPr lang="en-US" sz="3642" spc="-233" dirty="0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Future Improvements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989081" y="8088378"/>
            <a:ext cx="7762895" cy="1012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60"/>
              </a:lnSpc>
            </a:pPr>
            <a:r>
              <a:rPr lang="en-US" sz="1900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Pengembangan sistem scanner logistik untuk deployment skala enterprise dengan akses terdistribusi dan notifikasi otomatis untuk penanganan paket prioritas.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12270" y="3090400"/>
            <a:ext cx="3438193" cy="82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3"/>
              </a:lnSpc>
              <a:spcBef>
                <a:spcPct val="0"/>
              </a:spcBef>
            </a:pPr>
            <a:r>
              <a:rPr lang="en-US" sz="2388" b="1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DEPLOY KE VIRTUAL MACHINE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938378" y="3090400"/>
            <a:ext cx="3438193" cy="406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3"/>
              </a:lnSpc>
              <a:spcBef>
                <a:spcPct val="0"/>
              </a:spcBef>
            </a:pPr>
            <a:r>
              <a:rPr lang="en-US" sz="2388" b="1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DATABASE POSTGRESQL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364486" y="3090400"/>
            <a:ext cx="3438193" cy="82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3"/>
              </a:lnSpc>
            </a:pPr>
            <a:r>
              <a:rPr lang="en-US" sz="2388" b="1" spc="-152" dirty="0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INTEGRASI WEBHOOK N8N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794066" y="3090400"/>
            <a:ext cx="3438193" cy="82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3"/>
              </a:lnSpc>
            </a:pPr>
            <a:r>
              <a:rPr lang="en-US" sz="2388" b="1" spc="-152" dirty="0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NOTIFIKASI TELEGRAM OTOMATIS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41386" y="0"/>
            <a:ext cx="4646614" cy="10287000"/>
            <a:chOff x="0" y="0"/>
            <a:chExt cx="1223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3800" cy="2709333"/>
            </a:xfrm>
            <a:custGeom>
              <a:avLst/>
              <a:gdLst/>
              <a:ahLst/>
              <a:cxnLst/>
              <a:rect l="l" t="t" r="r" b="b"/>
              <a:pathLst>
                <a:path w="1223800" h="2709333">
                  <a:moveTo>
                    <a:pt x="0" y="0"/>
                  </a:moveTo>
                  <a:lnTo>
                    <a:pt x="1223800" y="0"/>
                  </a:lnTo>
                  <a:lnTo>
                    <a:pt x="122380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23800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102839" y="1172167"/>
            <a:ext cx="1723707" cy="7645355"/>
            <a:chOff x="0" y="0"/>
            <a:chExt cx="2298277" cy="10193807"/>
          </a:xfrm>
        </p:grpSpPr>
        <p:sp>
          <p:nvSpPr>
            <p:cNvPr id="6" name="Freeform 6"/>
            <p:cNvSpPr/>
            <p:nvPr/>
          </p:nvSpPr>
          <p:spPr>
            <a:xfrm>
              <a:off x="725460" y="0"/>
              <a:ext cx="834331" cy="947395"/>
            </a:xfrm>
            <a:custGeom>
              <a:avLst/>
              <a:gdLst/>
              <a:ahLst/>
              <a:cxnLst/>
              <a:rect l="l" t="t" r="r" b="b"/>
              <a:pathLst>
                <a:path w="834331" h="947395">
                  <a:moveTo>
                    <a:pt x="0" y="0"/>
                  </a:moveTo>
                  <a:lnTo>
                    <a:pt x="834332" y="0"/>
                  </a:lnTo>
                  <a:lnTo>
                    <a:pt x="834332" y="947395"/>
                  </a:lnTo>
                  <a:lnTo>
                    <a:pt x="0" y="947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1253510"/>
              <a:ext cx="2272228" cy="3571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925"/>
                </a:lnSpc>
              </a:pPr>
              <a:r>
                <a:rPr lang="en-US" sz="17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AI Engineering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024" y="1610617"/>
              <a:ext cx="2272228" cy="3571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925"/>
                </a:lnSpc>
              </a:pPr>
              <a:r>
                <a:rPr lang="en-US" sz="17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Final Project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024" y="9479592"/>
              <a:ext cx="2272228" cy="3571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925"/>
                </a:lnSpc>
              </a:pPr>
              <a:r>
                <a:rPr lang="en-US" sz="17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049" y="9836699"/>
              <a:ext cx="2272228" cy="3571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925"/>
                </a:lnSpc>
              </a:pPr>
              <a:r>
                <a:rPr lang="en-US" sz="17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of 11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986465" y="0"/>
            <a:ext cx="4378150" cy="10287000"/>
            <a:chOff x="0" y="0"/>
            <a:chExt cx="678290" cy="159372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78290" cy="1593725"/>
            </a:xfrm>
            <a:custGeom>
              <a:avLst/>
              <a:gdLst/>
              <a:ahLst/>
              <a:cxnLst/>
              <a:rect l="l" t="t" r="r" b="b"/>
              <a:pathLst>
                <a:path w="678290" h="1593725">
                  <a:moveTo>
                    <a:pt x="0" y="0"/>
                  </a:moveTo>
                  <a:lnTo>
                    <a:pt x="678290" y="0"/>
                  </a:lnTo>
                  <a:lnTo>
                    <a:pt x="67829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/>
              <a:stretch>
                <a:fillRect l="-16964" r="-16964"/>
              </a:stretch>
            </a:blipFill>
          </p:spPr>
        </p:sp>
      </p:grpSp>
      <p:sp>
        <p:nvSpPr>
          <p:cNvPr id="16" name="AutoShape 16"/>
          <p:cNvSpPr/>
          <p:nvPr/>
        </p:nvSpPr>
        <p:spPr>
          <a:xfrm>
            <a:off x="13503000" y="0"/>
            <a:ext cx="0" cy="1028700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14650619" y="4976283"/>
            <a:ext cx="2628148" cy="1983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008"/>
              </a:lnSpc>
            </a:pPr>
            <a:r>
              <a:rPr lang="en-US" sz="1434" spc="-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Saksikan demo aplikasi scanning resi logistik otomatis menggunakan YOLOv8 &amp; PyZbar. Lihat bagaimana sistem mendeteksi paket dan membaca barcode secara real-time di konveyor.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8200" y="7121840"/>
            <a:ext cx="8009880" cy="384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501"/>
              </a:lnSpc>
            </a:pPr>
            <a:r>
              <a:rPr lang="en-US" sz="4000" b="1" spc="-83" dirty="0" err="1">
                <a:solidFill>
                  <a:schemeClr val="accent4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konveyor-apps.streamlit.app</a:t>
            </a:r>
            <a:endParaRPr lang="en-US" sz="4000" b="1" spc="-83" dirty="0">
              <a:solidFill>
                <a:schemeClr val="accent4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28700" y="857250"/>
            <a:ext cx="6671890" cy="1460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905"/>
              </a:lnSpc>
              <a:spcBef>
                <a:spcPct val="0"/>
              </a:spcBef>
            </a:pPr>
            <a:r>
              <a:rPr lang="en-US" sz="8504" b="1" spc="-54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Demo Link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9233" y="3185884"/>
            <a:ext cx="6671890" cy="3237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333"/>
              </a:lnSpc>
            </a:pPr>
            <a:r>
              <a:rPr lang="en-US" sz="8504" spc="-544" dirty="0" err="1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Terima</a:t>
            </a:r>
            <a:r>
              <a:rPr lang="en-US" sz="8504" spc="-544" dirty="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lang="en-US" sz="8504" spc="-544" dirty="0" err="1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kasih</a:t>
            </a:r>
            <a:r>
              <a:rPr lang="en-US" sz="8504" spc="-544" dirty="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!</a:t>
            </a:r>
          </a:p>
          <a:p>
            <a:pPr marL="0" lvl="0" indent="0" algn="just">
              <a:lnSpc>
                <a:spcPts val="8333"/>
              </a:lnSpc>
            </a:pPr>
            <a:r>
              <a:rPr lang="en-US" sz="8504" spc="-544" dirty="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Ayo </a:t>
            </a:r>
            <a:r>
              <a:rPr lang="en-US" sz="8504" spc="-544" dirty="0" err="1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lihat</a:t>
            </a:r>
            <a:r>
              <a:rPr lang="en-US" sz="8504" spc="-544" dirty="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 demo</a:t>
            </a:r>
          </a:p>
          <a:p>
            <a:pPr marL="0" lvl="0" indent="0" algn="just">
              <a:lnSpc>
                <a:spcPts val="8333"/>
              </a:lnSpc>
            </a:pPr>
            <a:r>
              <a:rPr lang="en-US" sz="8504" spc="-544" dirty="0" err="1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aplikasi</a:t>
            </a:r>
            <a:r>
              <a:rPr lang="en-US" sz="8504" spc="-544" dirty="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lang="en-US" sz="8504" spc="-544" dirty="0" err="1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ini</a:t>
            </a:r>
            <a:r>
              <a:rPr lang="en-US" sz="8504" spc="-544" dirty="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659</Words>
  <Application>Microsoft Office PowerPoint</Application>
  <PresentationFormat>Custom</PresentationFormat>
  <Paragraphs>134</Paragraphs>
  <Slides>11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Calibri</vt:lpstr>
      <vt:lpstr>Poppins Bold</vt:lpstr>
      <vt:lpstr>Bricolage Grotesque</vt:lpstr>
      <vt:lpstr>Bricolage Grotesque Bold</vt:lpstr>
      <vt:lpstr>Canva Sans Bold</vt:lpstr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Otomatisasi Scanning Resi Logistik dengan YOLOv8 &amp; PyZbar</dc:title>
  <cp:lastModifiedBy>akbar asyidqi</cp:lastModifiedBy>
  <cp:revision>5</cp:revision>
  <dcterms:created xsi:type="dcterms:W3CDTF">2006-08-16T00:00:00Z</dcterms:created>
  <dcterms:modified xsi:type="dcterms:W3CDTF">2026-06-13T22:15:25Z</dcterms:modified>
  <dc:identifier>DAHKk74fauw</dc:identifier>
</cp:coreProperties>
</file>